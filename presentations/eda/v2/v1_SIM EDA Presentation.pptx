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Introduce the team and the milestone. One sentence on the project: we want to forecast, one day ahead, how many interventions the Montréal fire service (SIM) will record in each of its six operational divisions. This talk covers what we checked in the data, what we found, and what it means for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The decision: SIM sometimes takes units out of service for training or maintenance. A day-ahead forecast of volume per division could flag days when that is risky. The user is proposed, not confirmed. The target is the daily count of interventions published in the open data, for each of Divisions 1 to 6. Timing matters: the portal publishes about 2 days late, so a forecast made on D minus 1 can only use counts up to D minus 3. Success means a lower MAE than a recent same-weekday average. We forecast recorded volume, not workload.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15. Two official files, 2020-2024 and the current file, same 13 columns, consecutive periods, so we append them. 754,413 records. We aggregate to one row per division per day: 14,748 division-days, median 53, never zero. The table describes the target. Mean and median agree, so a typical day is symmetric. The tails are not: Division 1 had 384 interventions on the ice-storm day, 13 times its median. That is why we use MAE as the primary metric and why we look at storm days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30. Missing values are few and we know where they are. The important one is 2024-12-31: it is absent from both files, so it is a gap, not a quiet day. We keep it as null and never score a forecast for it. Division code 0 is undocumented and excluded. Blank groups grow over time and are mostly fire-type events. No duplicate keys. Coverage: the open data are about 94% of what SIM reports, so we say "published interventions". Outliers are flagged by a rule, not removed. Leakage: anything describing day D's incidents is unknown when we forecast, so it is never an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15. First pattern: the level is not stable, and the breaks come from first-responder calls, the blue band. In spring 2020 they almost disappear for three months (COVID). From late December 2025 they fall 25 to 30% in Divisions 1 to 5, while all other groups hold or grow, and Division 6 grows. We do not know why; a change in dispatch protocol is a hypothesis, not a finding. For the model: 2020 is only lag history, structure is learned on 2021 to 2024, and the late-2025 break falls inside our test period, so it is a real drift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15. Second pattern: shocks. We remove each division's trend and weekly pattern with a robust decomposition, then flag days whose residual is more than 6 robust standard deviations above normal. That flags under 1% of division-days. Most of them happen on the same dates in several divisions: 16 dates hit 3 or more divisions at once. Those are weather days. The April 2023 ice storm is confirmed; the others match electrical problems and flooding but we have not checked them against weather records. Nothing in our inputs predicts them, so we report errors with and without these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Third pattern: do the divisions move together? We decomposed the division by month table with a median polish, which resists storm months. Once each division's size is removed, 88.5% of the month-to-month movement is common to all six: COVID, the ice storm, the 2025 high. The bottom heatmap is what is left for each division. Division 6, downtown, is the exception: it climbs to 44% above the shared pattern in 2026. Daily residuals agree: Divisions 1 to 5 correlate 0.39 to 0.64 with each other, Division 6 only 0.14 to 0.34.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What the findings mean for SIM's planners. One: we forecast volume, not workload. First-responder calls are most of the incidents but use few vehicles, so the forecast cannot tell planners how many crews they need. Two: the riskiest days are storm days that hit several divisions at once, which is exactly when taking units out of service is most costly. Our count-only design will not anticipate them; adding weather forecasts might, but that is a hypothesis and outside the agreed design. Three: Division 6 behaves differently, which justifies forecasting each division rather than splitting a citywide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15. Left, how we build it. Inputs are recent levels up to D minus 3 plus the calendar; we drop the linear trend because it over-predicts after the late-2025 drop; nothing describing day D's incidents goes in. One pooled model across divisions, because most movement is shared, with extra level features for Division 6. Counts are over-dispersed, so we compare a Poisson or Tweedie loss with a log transform. Right, how we judge it. Time-ordered validation, never k-fold, which would train on days after the ones it predicts. Two baselines: the agreed same-weekday mean, and a plain 28-day mean, which was already better in 2024. Errors per division, per month, with and without anomaly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Next: a baseline and validation harness that enforces the D minus 3 cutoff, then features, then single models, then the ensemble, compared with both baselines using bootstrap intervals so a small win is not over-claimed. Risks: we do not know why first-responder calls dropped in late 2025; the publication cutoff is simulated because the portal keeps no history; the open data are a subset; weather drives the surges but is outside the agreed design; and we cannot confirm that SIM planners would use this forecast.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questions about the baselines. Same-weekday windows of 13 and 26 weeks tie overall at 8.16; the plain 28-day mean is 8.03 and wins or ties in four of six divisions. Negative bias means slight under-forecasting in a rising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questions about which days were flagged. 2020-06-11 is a good example of why we detect on residuals: 324 interventions looks ordinary, but it was 70% non-medical during the COVID 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6F7"/>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4171C"/>
                </a:solidFill>
                <a:latin typeface="IBM Plex Sans Condensed" pitchFamily="34" charset="0"/>
                <a:ea typeface="IBM Plex Sans Condensed" pitchFamily="34" charset="-122"/>
                <a:cs typeface="IBM Plex Sans Condensed"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64640"/>
            <a:ext cx="10566400" cy="4480560"/>
          </a:xfrm>
          <a:prstGeom prst="rect">
            <a:avLst/>
          </a:prstGeom>
          <a:noFill/>
          <a:ln/>
        </p:spPr>
        <p:txBody>
          <a:bodyPr wrap="square" lIns="0" tIns="0" rIns="0" bIns="0" rtlCol="0" anchor="t"/>
          <a:lstStyle>
            <a:lvl1pPr algn="l" indent="0" marL="0">
              <a:lnSpc>
                <a:spcPct val="140000"/>
              </a:lnSpc>
              <a:buNone/>
              <a:defRPr lang="en-US" sz="1600" dirty="0">
                <a:solidFill>
                  <a:srgbClr val="474D57"/>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6F7"/>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4171C"/>
                </a:solidFill>
                <a:latin typeface="IBM Plex Sans Condensed" pitchFamily="34" charset="0"/>
                <a:ea typeface="IBM Plex Sans Condensed" pitchFamily="34" charset="-122"/>
                <a:cs typeface="IBM Plex Sans Condensed"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64640"/>
            <a:ext cx="10566400" cy="4480560"/>
          </a:xfrm>
          <a:prstGeom prst="rect">
            <a:avLst/>
          </a:prstGeom>
          <a:noFill/>
          <a:ln/>
        </p:spPr>
        <p:txBody>
          <a:bodyPr wrap="square" lIns="0" tIns="0" rIns="0" bIns="0" rtlCol="0" anchor="t"/>
          <a:lstStyle>
            <a:lvl1pPr algn="l" indent="0" marL="0">
              <a:lnSpc>
                <a:spcPct val="140000"/>
              </a:lnSpc>
              <a:buNone/>
              <a:defRPr lang="en-US" sz="1600" dirty="0">
                <a:solidFill>
                  <a:srgbClr val="474D57"/>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8EB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3261E"/>
                </a:solidFill>
                <a:latin typeface="IBM Plex Sans" pitchFamily="34" charset="0"/>
                <a:ea typeface="IBM Plex Sans" pitchFamily="34" charset="-122"/>
                <a:cs typeface="IBM Plex Sans" pitchFamily="34" charset="-120"/>
              </a:rPr>
              <a:t>YCIT 440 CAPSTONE, EDA MILESTONE</a:t>
            </a:r>
            <a:endParaRPr lang="en-US" sz="1200" dirty="0"/>
          </a:p>
        </p:txBody>
      </p:sp>
      <p:sp>
        <p:nvSpPr>
          <p:cNvPr id="3" name="Text 1"/>
          <p:cNvSpPr/>
          <p:nvPr>
            <p:ph type="title"/>
          </p:nvPr>
        </p:nvSpPr>
        <p:spPr>
          <a:xfrm>
            <a:off x="812800" y="2498090"/>
            <a:ext cx="10883392" cy="665480"/>
          </a:xfrm>
          <a:prstGeom prst="rect">
            <a:avLst/>
          </a:prstGeom>
          <a:noFill/>
          <a:ln/>
        </p:spPr>
        <p:txBody>
          <a:bodyPr wrap="square" lIns="0" tIns="0" rIns="0" bIns="0" rtlCol="0" anchor="t">
            <a:normAutofit/>
          </a:bodyPr>
          <a:lstStyle/>
          <a:p>
            <a:pPr algn="l" indent="0" marL="0">
              <a:lnSpc>
                <a:spcPts val="5040"/>
              </a:lnSpc>
              <a:buNone/>
            </a:pPr>
            <a:r>
              <a:rPr lang="en-US" sz="4800" b="1" i="0" spc="-100" kern="0" dirty="0">
                <a:solidFill>
                  <a:srgbClr val="14171C"/>
                </a:solidFill>
                <a:latin typeface="IBM Plex Sans Condensed" pitchFamily="34" charset="0"/>
                <a:ea typeface="IBM Plex Sans Condensed" pitchFamily="34" charset="-122"/>
                <a:cs typeface="IBM Plex Sans Condensed" pitchFamily="34" charset="-120"/>
              </a:rPr>
              <a:t>What the SIM open data can support</a:t>
            </a:r>
            <a:endParaRPr lang="en-US" sz="4800" dirty="0"/>
          </a:p>
        </p:txBody>
      </p:sp>
      <p:sp>
        <p:nvSpPr>
          <p:cNvPr id="4" name="Text 2"/>
          <p:cNvSpPr/>
          <p:nvPr/>
        </p:nvSpPr>
        <p:spPr>
          <a:xfrm>
            <a:off x="812800" y="3341370"/>
            <a:ext cx="8502650"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474D57"/>
                </a:solidFill>
                <a:latin typeface="IBM Plex Sans" pitchFamily="34" charset="0"/>
                <a:ea typeface="IBM Plex Sans" pitchFamily="34" charset="-122"/>
                <a:cs typeface="IBM Plex Sans" pitchFamily="34" charset="-120"/>
              </a:rPr>
              <a:t>Exploratory analysis for a one-day-ahead forecast of published interventions in Divisions 1-6</a:t>
            </a:r>
            <a:endParaRPr lang="en-US" sz="2000" dirty="0"/>
          </a:p>
        </p:txBody>
      </p:sp>
      <p:sp>
        <p:nvSpPr>
          <p:cNvPr id="5" name="Text 3"/>
          <p:cNvSpPr/>
          <p:nvPr/>
        </p:nvSpPr>
        <p:spPr>
          <a:xfrm>
            <a:off x="812800" y="5473700"/>
            <a:ext cx="10883392"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474D57"/>
                </a:solidFill>
                <a:latin typeface="IBM Plex Sans" pitchFamily="34" charset="0"/>
                <a:ea typeface="IBM Plex Sans" pitchFamily="34" charset="-122"/>
                <a:cs typeface="IBM Plex Sans" pitchFamily="34" charset="-120"/>
              </a:rPr>
              <a:t>Team 4: Cristal Cortez, Isaac Abouganem, Peining Huang, Karl Moubayed, Langyue Sun</a:t>
            </a:r>
            <a:endParaRPr lang="en-US" sz="1500" dirty="0"/>
          </a:p>
          <a:p>
            <a:pPr algn="l" indent="0" marL="0">
              <a:lnSpc>
                <a:spcPts val="2250"/>
              </a:lnSpc>
              <a:buNone/>
            </a:pPr>
            <a:r>
              <a:rPr lang="en-US" sz="1500" dirty="0">
                <a:solidFill>
                  <a:srgbClr val="474D57"/>
                </a:solidFill>
                <a:latin typeface="IBM Plex Sans" pitchFamily="34" charset="0"/>
                <a:ea typeface="IBM Plex Sans" pitchFamily="34" charset="-122"/>
                <a:cs typeface="IBM Plex Sans" pitchFamily="34" charset="-120"/>
              </a:rPr>
              <a:t>October 15,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7"/>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4171C"/>
                </a:solidFill>
                <a:latin typeface="IBM Plex Sans Condensed" pitchFamily="34" charset="0"/>
                <a:ea typeface="IBM Plex Sans Condensed" pitchFamily="34" charset="-122"/>
                <a:cs typeface="IBM Plex Sans Condensed" pitchFamily="34" charset="-120"/>
              </a:rPr>
              <a:t>One forecast per division, one day ahead</a:t>
            </a:r>
            <a:endParaRPr lang="en-US" sz="3200" dirty="0"/>
          </a:p>
        </p:txBody>
      </p:sp>
      <p:sp>
        <p:nvSpPr>
          <p:cNvPr id="3" name="Shape 1"/>
          <p:cNvSpPr/>
          <p:nvPr/>
        </p:nvSpPr>
        <p:spPr>
          <a:xfrm>
            <a:off x="812800" y="1567815"/>
            <a:ext cx="3974042" cy="0"/>
          </a:xfrm>
          <a:prstGeom prst="line">
            <a:avLst/>
          </a:prstGeom>
          <a:noFill/>
          <a:ln w="6350">
            <a:solidFill>
              <a:srgbClr val="C9CDD3"/>
            </a:solidFill>
            <a:prstDash val="solid"/>
          </a:ln>
        </p:spPr>
      </p:sp>
      <p:sp>
        <p:nvSpPr>
          <p:cNvPr id="4" name="Text 2"/>
          <p:cNvSpPr/>
          <p:nvPr/>
        </p:nvSpPr>
        <p:spPr>
          <a:xfrm>
            <a:off x="812800" y="1697990"/>
            <a:ext cx="409326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71C"/>
                </a:solidFill>
                <a:latin typeface="IBM Plex Sans" pitchFamily="34" charset="0"/>
                <a:ea typeface="IBM Plex Sans" pitchFamily="34" charset="-122"/>
                <a:cs typeface="IBM Plex Sans" pitchFamily="34" charset="-120"/>
              </a:rPr>
              <a:t>Decision supported</a:t>
            </a:r>
            <a:endParaRPr lang="en-US" sz="1200" dirty="0"/>
          </a:p>
        </p:txBody>
      </p:sp>
      <p:sp>
        <p:nvSpPr>
          <p:cNvPr id="5" name="Text 3"/>
          <p:cNvSpPr/>
          <p:nvPr/>
        </p:nvSpPr>
        <p:spPr>
          <a:xfrm>
            <a:off x="812800" y="1962150"/>
            <a:ext cx="4093263"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74D57"/>
                </a:solidFill>
                <a:latin typeface="IBM Plex Sans" pitchFamily="34" charset="0"/>
                <a:ea typeface="IBM Plex Sans" pitchFamily="34" charset="-122"/>
                <a:cs typeface="IBM Plex Sans" pitchFamily="34" charset="-120"/>
              </a:rPr>
              <a:t>Review planned training or maintenance that takes units out of service when unusual volume is expected.</a:t>
            </a:r>
            <a:endParaRPr lang="en-US" sz="1500" dirty="0"/>
          </a:p>
        </p:txBody>
      </p:sp>
      <p:sp>
        <p:nvSpPr>
          <p:cNvPr id="6" name="Shape 4"/>
          <p:cNvSpPr/>
          <p:nvPr/>
        </p:nvSpPr>
        <p:spPr>
          <a:xfrm>
            <a:off x="812800" y="3019425"/>
            <a:ext cx="3974042" cy="0"/>
          </a:xfrm>
          <a:prstGeom prst="line">
            <a:avLst/>
          </a:prstGeom>
          <a:noFill/>
          <a:ln w="6350">
            <a:solidFill>
              <a:srgbClr val="C9CDD3"/>
            </a:solidFill>
            <a:prstDash val="solid"/>
          </a:ln>
        </p:spPr>
      </p:sp>
      <p:sp>
        <p:nvSpPr>
          <p:cNvPr id="7" name="Text 5"/>
          <p:cNvSpPr/>
          <p:nvPr/>
        </p:nvSpPr>
        <p:spPr>
          <a:xfrm>
            <a:off x="812800" y="3149600"/>
            <a:ext cx="409326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71C"/>
                </a:solidFill>
                <a:latin typeface="IBM Plex Sans" pitchFamily="34" charset="0"/>
                <a:ea typeface="IBM Plex Sans" pitchFamily="34" charset="-122"/>
                <a:cs typeface="IBM Plex Sans" pitchFamily="34" charset="-120"/>
              </a:rPr>
              <a:t>Intended user</a:t>
            </a:r>
            <a:endParaRPr lang="en-US" sz="1200" dirty="0"/>
          </a:p>
        </p:txBody>
      </p:sp>
      <p:sp>
        <p:nvSpPr>
          <p:cNvPr id="8" name="Text 6"/>
          <p:cNvSpPr/>
          <p:nvPr/>
        </p:nvSpPr>
        <p:spPr>
          <a:xfrm>
            <a:off x="812800" y="3413760"/>
            <a:ext cx="4093263"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74D57"/>
                </a:solidFill>
                <a:latin typeface="IBM Plex Sans" pitchFamily="34" charset="0"/>
                <a:ea typeface="IBM Plex Sans" pitchFamily="34" charset="-122"/>
                <a:cs typeface="IBM Plex Sans" pitchFamily="34" charset="-120"/>
              </a:rPr>
              <a:t>SIM Operational Planning Division (proposed; the decision owner is not confirmed).</a:t>
            </a:r>
            <a:endParaRPr lang="en-US" sz="1500" dirty="0"/>
          </a:p>
        </p:txBody>
      </p:sp>
      <p:sp>
        <p:nvSpPr>
          <p:cNvPr id="9" name="Shape 7"/>
          <p:cNvSpPr/>
          <p:nvPr/>
        </p:nvSpPr>
        <p:spPr>
          <a:xfrm>
            <a:off x="812800" y="4204335"/>
            <a:ext cx="3974042" cy="0"/>
          </a:xfrm>
          <a:prstGeom prst="line">
            <a:avLst/>
          </a:prstGeom>
          <a:noFill/>
          <a:ln w="6350">
            <a:solidFill>
              <a:srgbClr val="C9CDD3"/>
            </a:solidFill>
            <a:prstDash val="solid"/>
          </a:ln>
        </p:spPr>
      </p:sp>
      <p:sp>
        <p:nvSpPr>
          <p:cNvPr id="10" name="Text 8"/>
          <p:cNvSpPr/>
          <p:nvPr/>
        </p:nvSpPr>
        <p:spPr>
          <a:xfrm>
            <a:off x="812800" y="4334510"/>
            <a:ext cx="409326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71C"/>
                </a:solidFill>
                <a:latin typeface="IBM Plex Sans" pitchFamily="34" charset="0"/>
                <a:ea typeface="IBM Plex Sans" pitchFamily="34" charset="-122"/>
                <a:cs typeface="IBM Plex Sans" pitchFamily="34" charset="-120"/>
              </a:rPr>
              <a:t>Scope</a:t>
            </a:r>
            <a:endParaRPr lang="en-US" sz="1200" dirty="0"/>
          </a:p>
        </p:txBody>
      </p:sp>
      <p:sp>
        <p:nvSpPr>
          <p:cNvPr id="11" name="Text 9"/>
          <p:cNvSpPr/>
          <p:nvPr/>
        </p:nvSpPr>
        <p:spPr>
          <a:xfrm>
            <a:off x="812800" y="4598670"/>
            <a:ext cx="4093263"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74D57"/>
                </a:solidFill>
                <a:latin typeface="IBM Plex Sans" pitchFamily="34" charset="0"/>
                <a:ea typeface="IBM Plex Sans" pitchFamily="34" charset="-122"/>
                <a:cs typeface="IBM Plex Sans" pitchFamily="34" charset="-120"/>
              </a:rPr>
              <a:t>Recorded volume, not workload: no claims about staffing, vehicles or response times.</a:t>
            </a:r>
            <a:endParaRPr lang="en-US" sz="1500" dirty="0"/>
          </a:p>
        </p:txBody>
      </p:sp>
      <p:sp>
        <p:nvSpPr>
          <p:cNvPr id="12" name="Shape 10"/>
          <p:cNvSpPr/>
          <p:nvPr/>
        </p:nvSpPr>
        <p:spPr>
          <a:xfrm>
            <a:off x="5196417" y="1567815"/>
            <a:ext cx="6179608" cy="3731260"/>
          </a:xfrm>
          <a:prstGeom prst="rect">
            <a:avLst/>
          </a:prstGeom>
          <a:solidFill>
            <a:srgbClr val="FCFCFB"/>
          </a:solidFill>
          <a:ln w="6350">
            <a:solidFill>
              <a:srgbClr val="D5D9DE"/>
            </a:solidFill>
            <a:prstDash val="solid"/>
          </a:ln>
        </p:spPr>
      </p:sp>
      <p:sp>
        <p:nvSpPr>
          <p:cNvPr id="13" name="Text 11"/>
          <p:cNvSpPr/>
          <p:nvPr/>
        </p:nvSpPr>
        <p:spPr>
          <a:xfrm>
            <a:off x="5504392" y="1875790"/>
            <a:ext cx="573056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3261E"/>
                </a:solidFill>
                <a:latin typeface="IBM Plex Sans" pitchFamily="34" charset="0"/>
                <a:ea typeface="IBM Plex Sans" pitchFamily="34" charset="-122"/>
                <a:cs typeface="IBM Plex Sans" pitchFamily="34" charset="-120"/>
              </a:rPr>
              <a:t>Target</a:t>
            </a:r>
            <a:endParaRPr lang="en-US" sz="1200" dirty="0"/>
          </a:p>
        </p:txBody>
      </p:sp>
      <p:sp>
        <p:nvSpPr>
          <p:cNvPr id="14" name="Text 12"/>
          <p:cNvSpPr/>
          <p:nvPr/>
        </p:nvSpPr>
        <p:spPr>
          <a:xfrm>
            <a:off x="5504392" y="2241550"/>
            <a:ext cx="5730568"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171C"/>
                </a:solidFill>
                <a:latin typeface="IBM Plex Sans Condensed" pitchFamily="34" charset="0"/>
                <a:ea typeface="IBM Plex Sans Condensed" pitchFamily="34" charset="-122"/>
                <a:cs typeface="IBM Plex Sans Condensed" pitchFamily="34" charset="-120"/>
              </a:rPr>
              <a:t>Daily count of interventions published in the open data, per Division 1-6</a:t>
            </a:r>
            <a:endParaRPr lang="en-US" sz="2000" dirty="0"/>
          </a:p>
        </p:txBody>
      </p:sp>
      <p:sp>
        <p:nvSpPr>
          <p:cNvPr id="15" name="Shape 13"/>
          <p:cNvSpPr/>
          <p:nvPr/>
        </p:nvSpPr>
        <p:spPr>
          <a:xfrm>
            <a:off x="5504392" y="3009900"/>
            <a:ext cx="5563658" cy="0"/>
          </a:xfrm>
          <a:prstGeom prst="line">
            <a:avLst/>
          </a:prstGeom>
          <a:noFill/>
          <a:ln w="12700">
            <a:solidFill>
              <a:srgbClr val="141413">
                <a:alpha val="22000"/>
              </a:srgbClr>
            </a:solidFill>
            <a:prstDash val="solid"/>
          </a:ln>
        </p:spPr>
      </p:sp>
      <p:sp>
        <p:nvSpPr>
          <p:cNvPr id="16" name="Shape 14"/>
          <p:cNvSpPr/>
          <p:nvPr/>
        </p:nvSpPr>
        <p:spPr>
          <a:xfrm>
            <a:off x="5510742" y="3003550"/>
            <a:ext cx="0" cy="1987550"/>
          </a:xfrm>
          <a:prstGeom prst="line">
            <a:avLst/>
          </a:prstGeom>
          <a:noFill/>
          <a:ln w="12700">
            <a:solidFill>
              <a:srgbClr val="141413">
                <a:alpha val="22000"/>
              </a:srgbClr>
            </a:solidFill>
            <a:prstDash val="solid"/>
          </a:ln>
        </p:spPr>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618692" y="3117850"/>
          <a:ext cx="5347758" cy="1771650"/>
        </p:xfrm>
        <a:graphic>
          <a:graphicData uri="http://schemas.openxmlformats.org/drawingml/2006/table">
            <a:tbl>
              <a:tblPr/>
              <a:tblGrid>
                <a:gridCol w="1497372"/>
                <a:gridCol w="3850386"/>
              </a:tblGrid>
              <a:tr h="412750">
                <a:tc>
                  <a:txBody>
                    <a:bodyPr/>
                    <a:lstStyle/>
                    <a:p>
                      <a:pPr indent="0" marL="0">
                        <a:lnSpc>
                          <a:spcPts val="2100"/>
                        </a:lnSpc>
                        <a:buNone/>
                      </a:pPr>
                      <a:r>
                        <a:rPr lang="en-US" sz="1500" dirty="0">
                          <a:solidFill>
                            <a:srgbClr val="14171C"/>
                          </a:solidFill>
                          <a:latin typeface="IBM Plex Sans" pitchFamily="34" charset="0"/>
                          <a:ea typeface="IBM Plex Sans" pitchFamily="34" charset="-122"/>
                          <a:cs typeface="IBM Plex Sans" pitchFamily="34" charset="-120"/>
                        </a:rPr>
                        <a:t>Unit</a:t>
                      </a:r>
                      <a:endParaRPr lang="en-US" sz="1500" dirty="0">
                        <a:latin typeface="IBM Plex Sans" charset="0"/>
                        <a:ea typeface="IBM Plex Sans" charset="0"/>
                        <a:cs typeface="IBM Plex Sans" charset="0"/>
                      </a:endParaRPr>
                    </a:p>
                  </a:txBody>
                  <a:tcPr marL="66675" marR="66675" marT="66675" marB="66675" anchor="t">
                    <a:lnL w="0" cap="flat" cmpd="sng" algn="ctr">
                      <a:noFill/>
                    </a:lnL>
                    <a:lnR w="12700" cap="flat" cmpd="sng" algn="ctr">
                      <a:solidFill>
                        <a:srgbClr val="C9C9C8"/>
                      </a:solidFill>
                      <a:prstDash val="solid"/>
                      <a:round/>
                      <a:headEnd type="none" w="med" len="med"/>
                      <a:tailEnd type="none" w="med" len="med"/>
                    </a:lnR>
                    <a:lnT w="0" cap="flat" cmpd="sng" algn="ctr">
                      <a:noFill/>
                    </a:lnT>
                    <a:lnB w="12700" cap="flat" cmpd="sng" algn="ctr">
                      <a:solidFill>
                        <a:srgbClr val="C9C9C8"/>
                      </a:solidFill>
                      <a:prstDash val="solid"/>
                      <a:round/>
                      <a:headEnd type="none" w="med" len="med"/>
                      <a:tailEnd type="none" w="med" len="med"/>
                    </a:lnB>
                  </a:tcPr>
                </a:tc>
                <a:tc>
                  <a:txBody>
                    <a:bodyPr/>
                    <a:lstStyle/>
                    <a:p>
                      <a:pPr indent="0" marL="0">
                        <a:lnSpc>
                          <a:spcPts val="2100"/>
                        </a:lnSpc>
                        <a:buNone/>
                      </a:pPr>
                      <a:r>
                        <a:rPr lang="en-US" sz="1500" dirty="0">
                          <a:solidFill>
                            <a:srgbClr val="474D57"/>
                          </a:solidFill>
                          <a:latin typeface="IBM Plex Sans" pitchFamily="34" charset="0"/>
                          <a:ea typeface="IBM Plex Sans" pitchFamily="34" charset="-122"/>
                          <a:cs typeface="IBM Plex Sans" pitchFamily="34" charset="-120"/>
                        </a:rPr>
                        <a:t>interventions per division-day</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0" cap="flat" cmpd="sng" algn="ctr">
                      <a:noFill/>
                    </a:lnT>
                    <a:lnB w="12700" cap="flat" cmpd="sng" algn="ctr">
                      <a:solidFill>
                        <a:srgbClr val="C9C9C8"/>
                      </a:solidFill>
                      <a:prstDash val="solid"/>
                      <a:round/>
                      <a:headEnd type="none" w="med" len="med"/>
                      <a:tailEnd type="none" w="med" len="med"/>
                    </a:lnB>
                  </a:tcPr>
                </a:tc>
              </a:tr>
              <a:tr h="679450">
                <a:tc>
                  <a:txBody>
                    <a:bodyPr/>
                    <a:lstStyle/>
                    <a:p>
                      <a:pPr indent="0" marL="0">
                        <a:lnSpc>
                          <a:spcPts val="2100"/>
                        </a:lnSpc>
                        <a:buNone/>
                      </a:pPr>
                      <a:r>
                        <a:rPr lang="en-US" sz="1500" dirty="0">
                          <a:solidFill>
                            <a:srgbClr val="14171C"/>
                          </a:solidFill>
                          <a:latin typeface="IBM Plex Sans" pitchFamily="34" charset="0"/>
                          <a:ea typeface="IBM Plex Sans" pitchFamily="34" charset="-122"/>
                          <a:cs typeface="IBM Plex Sans" pitchFamily="34" charset="-120"/>
                        </a:rPr>
                        <a:t>Timing</a:t>
                      </a:r>
                      <a:endParaRPr lang="en-US" sz="1500" dirty="0">
                        <a:latin typeface="IBM Plex Sans" charset="0"/>
                        <a:ea typeface="IBM Plex Sans" charset="0"/>
                        <a:cs typeface="IBM Plex Sans" charset="0"/>
                      </a:endParaRPr>
                    </a:p>
                  </a:txBody>
                  <a:tcPr marL="66675" marR="66675" marT="66675" marB="66675"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2100"/>
                        </a:lnSpc>
                        <a:buNone/>
                      </a:pPr>
                      <a:r>
                        <a:rPr lang="en-US" sz="1500" dirty="0">
                          <a:solidFill>
                            <a:srgbClr val="474D57"/>
                          </a:solidFill>
                          <a:latin typeface="IBM Plex Sans" pitchFamily="34" charset="0"/>
                          <a:ea typeface="IBM Plex Sans" pitchFamily="34" charset="-122"/>
                          <a:cs typeface="IBM Plex Sans" pitchFamily="34" charset="-120"/>
                        </a:rPr>
                        <a:t>forecast day D on D−1, using counts up to D−3</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679450">
                <a:tc>
                  <a:txBody>
                    <a:bodyPr/>
                    <a:lstStyle/>
                    <a:p>
                      <a:pPr indent="0" marL="0">
                        <a:lnSpc>
                          <a:spcPts val="2100"/>
                        </a:lnSpc>
                        <a:buNone/>
                      </a:pPr>
                      <a:r>
                        <a:rPr lang="en-US" sz="1500" dirty="0">
                          <a:solidFill>
                            <a:srgbClr val="14171C"/>
                          </a:solidFill>
                          <a:latin typeface="IBM Plex Sans" pitchFamily="34" charset="0"/>
                          <a:ea typeface="IBM Plex Sans" pitchFamily="34" charset="-122"/>
                          <a:cs typeface="IBM Plex Sans" pitchFamily="34" charset="-120"/>
                        </a:rPr>
                        <a:t>Judged by</a:t>
                      </a:r>
                      <a:endParaRPr lang="en-US" sz="1500" dirty="0">
                        <a:latin typeface="IBM Plex Sans" charset="0"/>
                        <a:ea typeface="IBM Plex Sans" charset="0"/>
                        <a:cs typeface="IBM Plex Sans" charset="0"/>
                      </a:endParaRPr>
                    </a:p>
                  </a:txBody>
                  <a:tcPr marL="66675" marR="66675" marT="66675" marB="66675"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2100"/>
                        </a:lnSpc>
                        <a:buNone/>
                      </a:pPr>
                      <a:r>
                        <a:rPr lang="en-US" sz="1500" dirty="0">
                          <a:solidFill>
                            <a:srgbClr val="474D57"/>
                          </a:solidFill>
                          <a:latin typeface="IBM Plex Sans" pitchFamily="34" charset="0"/>
                          <a:ea typeface="IBM Plex Sans" pitchFamily="34" charset="-122"/>
                          <a:cs typeface="IBM Plex Sans" pitchFamily="34" charset="-120"/>
                        </a:rPr>
                        <a:t>MAE and bias against a recent same-weekday mean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bl>
          </a:graphicData>
        </a:graphic>
      </p:graphicFrame>
      <p:sp>
        <p:nvSpPr>
          <p:cNvPr id="18" name="Text 15"/>
          <p:cNvSpPr/>
          <p:nvPr/>
        </p:nvSpPr>
        <p:spPr>
          <a:xfrm>
            <a:off x="812800" y="6238239"/>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A73"/>
                </a:solidFill>
                <a:latin typeface="IBM Plex Sans" pitchFamily="34" charset="0"/>
                <a:ea typeface="IBM Plex Sans" pitchFamily="34" charset="-122"/>
                <a:cs typeface="IBM Plex Sans" pitchFamily="34" charset="-120"/>
              </a:rPr>
              <a:t>Team 4, SIM interventions EDA</a:t>
            </a:r>
            <a:endParaRPr lang="en-US" sz="1200" dirty="0"/>
          </a:p>
        </p:txBody>
      </p:sp>
      <p:sp>
        <p:nvSpPr>
          <p:cNvPr id="19" name="Text 16"/>
          <p:cNvSpPr/>
          <p:nvPr/>
        </p:nvSpPr>
        <p:spPr>
          <a:xfrm>
            <a:off x="10566400" y="6238239"/>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A73"/>
                </a:solidFill>
                <a:latin typeface="IBM Plex Sans" pitchFamily="34" charset="0"/>
                <a:ea typeface="IBM Plex Sans" pitchFamily="34" charset="-122"/>
                <a:cs typeface="IBM Plex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7"/>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4171C"/>
                </a:solidFill>
                <a:latin typeface="IBM Plex Sans Condensed" pitchFamily="34" charset="0"/>
                <a:ea typeface="IBM Plex Sans Condensed" pitchFamily="34" charset="-122"/>
                <a:cs typeface="IBM Plex Sans Condensed" pitchFamily="34" charset="-120"/>
              </a:rPr>
              <a:t>754,413 incidents, 14,748 division-days</a:t>
            </a:r>
            <a:endParaRPr lang="en-US" sz="3200" dirty="0"/>
          </a:p>
        </p:txBody>
      </p:sp>
      <p:sp>
        <p:nvSpPr>
          <p:cNvPr id="3" name="Text 1"/>
          <p:cNvSpPr/>
          <p:nvPr/>
        </p:nvSpPr>
        <p:spPr>
          <a:xfrm>
            <a:off x="812800" y="1564639"/>
            <a:ext cx="2406904"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171C"/>
                </a:solidFill>
                <a:latin typeface="IBM Plex Sans Condensed" pitchFamily="34" charset="0"/>
                <a:ea typeface="IBM Plex Sans Condensed" pitchFamily="34" charset="-122"/>
                <a:cs typeface="IBM Plex Sans Condensed" pitchFamily="34" charset="-120"/>
              </a:rPr>
              <a:t>754,413</a:t>
            </a:r>
            <a:endParaRPr lang="en-US" sz="3200" dirty="0"/>
          </a:p>
        </p:txBody>
      </p:sp>
      <p:sp>
        <p:nvSpPr>
          <p:cNvPr id="4" name="Text 2"/>
          <p:cNvSpPr/>
          <p:nvPr/>
        </p:nvSpPr>
        <p:spPr>
          <a:xfrm>
            <a:off x="812800" y="2062480"/>
            <a:ext cx="2406904"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records in 2 appended files; 13 columns: 4 numeric codes, 1 timestamp, 4 text, 4 coordinates</a:t>
            </a:r>
            <a:endParaRPr lang="en-US" sz="1200" dirty="0"/>
          </a:p>
        </p:txBody>
      </p:sp>
      <p:sp>
        <p:nvSpPr>
          <p:cNvPr id="5" name="Text 3"/>
          <p:cNvSpPr/>
          <p:nvPr/>
        </p:nvSpPr>
        <p:spPr>
          <a:xfrm>
            <a:off x="3556000" y="1564639"/>
            <a:ext cx="2406904"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171C"/>
                </a:solidFill>
                <a:latin typeface="IBM Plex Sans Condensed" pitchFamily="34" charset="0"/>
                <a:ea typeface="IBM Plex Sans Condensed" pitchFamily="34" charset="-122"/>
                <a:cs typeface="IBM Plex Sans Condensed" pitchFamily="34" charset="-120"/>
              </a:rPr>
              <a:t>2,458</a:t>
            </a:r>
            <a:endParaRPr lang="en-US" sz="3200" dirty="0"/>
          </a:p>
        </p:txBody>
      </p:sp>
      <p:sp>
        <p:nvSpPr>
          <p:cNvPr id="6" name="Text 4"/>
          <p:cNvSpPr/>
          <p:nvPr/>
        </p:nvSpPr>
        <p:spPr>
          <a:xfrm>
            <a:off x="3556000" y="2062480"/>
            <a:ext cx="240690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observed days, 2020-01-01 to 2026-09-24</a:t>
            </a:r>
            <a:endParaRPr lang="en-US" sz="1200" dirty="0"/>
          </a:p>
        </p:txBody>
      </p:sp>
      <p:sp>
        <p:nvSpPr>
          <p:cNvPr id="7" name="Text 5"/>
          <p:cNvSpPr/>
          <p:nvPr/>
        </p:nvSpPr>
        <p:spPr>
          <a:xfrm>
            <a:off x="6299200" y="1564639"/>
            <a:ext cx="2406904"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171C"/>
                </a:solidFill>
                <a:latin typeface="IBM Plex Sans Condensed" pitchFamily="34" charset="0"/>
                <a:ea typeface="IBM Plex Sans Condensed" pitchFamily="34" charset="-122"/>
                <a:cs typeface="IBM Plex Sans Condensed" pitchFamily="34" charset="-120"/>
              </a:rPr>
              <a:t>6</a:t>
            </a:r>
            <a:endParaRPr lang="en-US" sz="3200" dirty="0"/>
          </a:p>
        </p:txBody>
      </p:sp>
      <p:sp>
        <p:nvSpPr>
          <p:cNvPr id="8" name="Text 6"/>
          <p:cNvSpPr/>
          <p:nvPr/>
        </p:nvSpPr>
        <p:spPr>
          <a:xfrm>
            <a:off x="6299200" y="2062480"/>
            <a:ext cx="240690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divisions in the target; division code 0 (600 rows) excluded</a:t>
            </a:r>
            <a:endParaRPr lang="en-US" sz="1200" dirty="0"/>
          </a:p>
        </p:txBody>
      </p:sp>
      <p:sp>
        <p:nvSpPr>
          <p:cNvPr id="9" name="Text 7"/>
          <p:cNvSpPr/>
          <p:nvPr/>
        </p:nvSpPr>
        <p:spPr>
          <a:xfrm>
            <a:off x="9042400" y="1564639"/>
            <a:ext cx="2406904"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171C"/>
                </a:solidFill>
                <a:latin typeface="IBM Plex Sans Condensed" pitchFamily="34" charset="0"/>
                <a:ea typeface="IBM Plex Sans Condensed" pitchFamily="34" charset="-122"/>
                <a:cs typeface="IBM Plex Sans Condensed" pitchFamily="34" charset="-120"/>
              </a:rPr>
              <a:t>53</a:t>
            </a:r>
            <a:endParaRPr lang="en-US" sz="3200" dirty="0"/>
          </a:p>
        </p:txBody>
      </p:sp>
      <p:sp>
        <p:nvSpPr>
          <p:cNvPr id="10" name="Text 8"/>
          <p:cNvSpPr/>
          <p:nvPr/>
        </p:nvSpPr>
        <p:spPr>
          <a:xfrm>
            <a:off x="9042400" y="2062480"/>
            <a:ext cx="240690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median interventions per division-day; no zero days</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825500" y="3020061"/>
          <a:ext cx="7353300" cy="2329180"/>
        </p:xfrm>
        <a:graphic>
          <a:graphicData uri="http://schemas.openxmlformats.org/drawingml/2006/table">
            <a:tbl>
              <a:tblPr/>
              <a:tblGrid>
                <a:gridCol w="1029462"/>
                <a:gridCol w="808863"/>
                <a:gridCol w="882396"/>
                <a:gridCol w="735330"/>
                <a:gridCol w="1102995"/>
                <a:gridCol w="808863"/>
                <a:gridCol w="808863"/>
                <a:gridCol w="1176528"/>
              </a:tblGrid>
              <a:tr h="332740">
                <a:tc>
                  <a:txBody>
                    <a:bodyPr/>
                    <a:lstStyle/>
                    <a:p>
                      <a:pPr indent="0" marL="0">
                        <a:lnSpc>
                          <a:spcPts val="1680"/>
                        </a:lnSpc>
                        <a:buNone/>
                      </a:pPr>
                      <a:r>
                        <a:rPr lang="en-US" sz="1200" b="1" dirty="0">
                          <a:solidFill>
                            <a:srgbClr val="14171C"/>
                          </a:solidFill>
                          <a:latin typeface="IBM Plex Sans" pitchFamily="34" charset="0"/>
                          <a:ea typeface="IBM Plex Sans" pitchFamily="34" charset="-122"/>
                          <a:cs typeface="IBM Plex Sans" pitchFamily="34" charset="-120"/>
                        </a:rPr>
                        <a:t>Division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B9BCBE"/>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B9BCBE"/>
                      </a:solidFill>
                      <a:prstDash val="solid"/>
                      <a:round/>
                      <a:headEnd type="none" w="med" len="med"/>
                      <a:tailEnd type="none" w="med" len="med"/>
                    </a:lnB>
                    <a:solidFill>
                      <a:srgbClr val="E8EBEE"/>
                    </a:solidFill>
                  </a:tcPr>
                </a:tc>
                <a:tc>
                  <a:txBody>
                    <a:bodyPr/>
                    <a:lstStyle/>
                    <a:p>
                      <a:pPr algn="r" indent="0" marL="0">
                        <a:lnSpc>
                          <a:spcPts val="1680"/>
                        </a:lnSpc>
                        <a:buNone/>
                      </a:pPr>
                      <a:r>
                        <a:rPr lang="en-US" sz="1200" b="1" dirty="0">
                          <a:solidFill>
                            <a:srgbClr val="14171C"/>
                          </a:solidFill>
                          <a:latin typeface="IBM Plex Sans" pitchFamily="34" charset="0"/>
                          <a:ea typeface="IBM Plex Sans" pitchFamily="34" charset="-122"/>
                          <a:cs typeface="IBM Plex Sans" pitchFamily="34" charset="-120"/>
                        </a:rPr>
                        <a:t>Mean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CBE"/>
                      </a:solidFill>
                      <a:prstDash val="solid"/>
                      <a:round/>
                      <a:headEnd type="none" w="med" len="med"/>
                      <a:tailEnd type="none" w="med" len="med"/>
                    </a:lnL>
                    <a:lnR w="12700" cap="flat" cmpd="sng" algn="ctr">
                      <a:solidFill>
                        <a:srgbClr val="B9BCBE"/>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B9BCBE"/>
                      </a:solidFill>
                      <a:prstDash val="solid"/>
                      <a:round/>
                      <a:headEnd type="none" w="med" len="med"/>
                      <a:tailEnd type="none" w="med" len="med"/>
                    </a:lnB>
                    <a:solidFill>
                      <a:srgbClr val="E8EBEE"/>
                    </a:solidFill>
                  </a:tcPr>
                </a:tc>
                <a:tc>
                  <a:txBody>
                    <a:bodyPr/>
                    <a:lstStyle/>
                    <a:p>
                      <a:pPr algn="r" indent="0" marL="0">
                        <a:lnSpc>
                          <a:spcPts val="1680"/>
                        </a:lnSpc>
                        <a:buNone/>
                      </a:pPr>
                      <a:r>
                        <a:rPr lang="en-US" sz="1200" b="1" dirty="0">
                          <a:solidFill>
                            <a:srgbClr val="14171C"/>
                          </a:solidFill>
                          <a:latin typeface="IBM Plex Sans" pitchFamily="34" charset="0"/>
                          <a:ea typeface="IBM Plex Sans" pitchFamily="34" charset="-122"/>
                          <a:cs typeface="IBM Plex Sans" pitchFamily="34" charset="-120"/>
                        </a:rPr>
                        <a:t>Median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CBE"/>
                      </a:solidFill>
                      <a:prstDash val="solid"/>
                      <a:round/>
                      <a:headEnd type="none" w="med" len="med"/>
                      <a:tailEnd type="none" w="med" len="med"/>
                    </a:lnL>
                    <a:lnR w="12700" cap="flat" cmpd="sng" algn="ctr">
                      <a:solidFill>
                        <a:srgbClr val="B9BCBE"/>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B9BCBE"/>
                      </a:solidFill>
                      <a:prstDash val="solid"/>
                      <a:round/>
                      <a:headEnd type="none" w="med" len="med"/>
                      <a:tailEnd type="none" w="med" len="med"/>
                    </a:lnB>
                    <a:solidFill>
                      <a:srgbClr val="E8EBEE"/>
                    </a:solidFill>
                  </a:tcPr>
                </a:tc>
                <a:tc>
                  <a:txBody>
                    <a:bodyPr/>
                    <a:lstStyle/>
                    <a:p>
                      <a:pPr algn="r" indent="0" marL="0">
                        <a:lnSpc>
                          <a:spcPts val="1680"/>
                        </a:lnSpc>
                        <a:buNone/>
                      </a:pPr>
                      <a:r>
                        <a:rPr lang="en-US" sz="1200" b="1" dirty="0">
                          <a:solidFill>
                            <a:srgbClr val="14171C"/>
                          </a:solidFill>
                          <a:latin typeface="IBM Plex Sans" pitchFamily="34" charset="0"/>
                          <a:ea typeface="IBM Plex Sans" pitchFamily="34" charset="-122"/>
                          <a:cs typeface="IBM Plex Sans" pitchFamily="34" charset="-120"/>
                        </a:rPr>
                        <a:t>SD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CBE"/>
                      </a:solidFill>
                      <a:prstDash val="solid"/>
                      <a:round/>
                      <a:headEnd type="none" w="med" len="med"/>
                      <a:tailEnd type="none" w="med" len="med"/>
                    </a:lnL>
                    <a:lnR w="12700" cap="flat" cmpd="sng" algn="ctr">
                      <a:solidFill>
                        <a:srgbClr val="B9BCBE"/>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B9BCBE"/>
                      </a:solidFill>
                      <a:prstDash val="solid"/>
                      <a:round/>
                      <a:headEnd type="none" w="med" len="med"/>
                      <a:tailEnd type="none" w="med" len="med"/>
                    </a:lnB>
                    <a:solidFill>
                      <a:srgbClr val="E8EBEE"/>
                    </a:solidFill>
                  </a:tcPr>
                </a:tc>
                <a:tc>
                  <a:txBody>
                    <a:bodyPr/>
                    <a:lstStyle/>
                    <a:p>
                      <a:pPr algn="r" indent="0" marL="0">
                        <a:lnSpc>
                          <a:spcPts val="1680"/>
                        </a:lnSpc>
                        <a:buNone/>
                      </a:pPr>
                      <a:r>
                        <a:rPr lang="en-US" sz="1200" b="1" dirty="0">
                          <a:solidFill>
                            <a:srgbClr val="14171C"/>
                          </a:solidFill>
                          <a:latin typeface="IBM Plex Sans" pitchFamily="34" charset="0"/>
                          <a:ea typeface="IBM Plex Sans" pitchFamily="34" charset="-122"/>
                          <a:cs typeface="IBM Plex Sans" pitchFamily="34" charset="-120"/>
                        </a:rPr>
                        <a:t>Q1-Q3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CBE"/>
                      </a:solidFill>
                      <a:prstDash val="solid"/>
                      <a:round/>
                      <a:headEnd type="none" w="med" len="med"/>
                      <a:tailEnd type="none" w="med" len="med"/>
                    </a:lnL>
                    <a:lnR w="12700" cap="flat" cmpd="sng" algn="ctr">
                      <a:solidFill>
                        <a:srgbClr val="B9BCBE"/>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B9BCBE"/>
                      </a:solidFill>
                      <a:prstDash val="solid"/>
                      <a:round/>
                      <a:headEnd type="none" w="med" len="med"/>
                      <a:tailEnd type="none" w="med" len="med"/>
                    </a:lnB>
                    <a:solidFill>
                      <a:srgbClr val="E8EBEE"/>
                    </a:solidFill>
                  </a:tcPr>
                </a:tc>
                <a:tc>
                  <a:txBody>
                    <a:bodyPr/>
                    <a:lstStyle/>
                    <a:p>
                      <a:pPr algn="r" indent="0" marL="0">
                        <a:lnSpc>
                          <a:spcPts val="1680"/>
                        </a:lnSpc>
                        <a:buNone/>
                      </a:pPr>
                      <a:r>
                        <a:rPr lang="en-US" sz="1200" b="1" dirty="0">
                          <a:solidFill>
                            <a:srgbClr val="14171C"/>
                          </a:solidFill>
                          <a:latin typeface="IBM Plex Sans" pitchFamily="34" charset="0"/>
                          <a:ea typeface="IBM Plex Sans" pitchFamily="34" charset="-122"/>
                          <a:cs typeface="IBM Plex Sans" pitchFamily="34" charset="-120"/>
                        </a:rPr>
                        <a:t>P95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CBE"/>
                      </a:solidFill>
                      <a:prstDash val="solid"/>
                      <a:round/>
                      <a:headEnd type="none" w="med" len="med"/>
                      <a:tailEnd type="none" w="med" len="med"/>
                    </a:lnL>
                    <a:lnR w="12700" cap="flat" cmpd="sng" algn="ctr">
                      <a:solidFill>
                        <a:srgbClr val="B9BCBE"/>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B9BCBE"/>
                      </a:solidFill>
                      <a:prstDash val="solid"/>
                      <a:round/>
                      <a:headEnd type="none" w="med" len="med"/>
                      <a:tailEnd type="none" w="med" len="med"/>
                    </a:lnB>
                    <a:solidFill>
                      <a:srgbClr val="E8EBEE"/>
                    </a:solidFill>
                  </a:tcPr>
                </a:tc>
                <a:tc>
                  <a:txBody>
                    <a:bodyPr/>
                    <a:lstStyle/>
                    <a:p>
                      <a:pPr algn="r" indent="0" marL="0">
                        <a:lnSpc>
                          <a:spcPts val="1680"/>
                        </a:lnSpc>
                        <a:buNone/>
                      </a:pPr>
                      <a:r>
                        <a:rPr lang="en-US" sz="1200" b="1" dirty="0">
                          <a:solidFill>
                            <a:srgbClr val="14171C"/>
                          </a:solidFill>
                          <a:latin typeface="IBM Plex Sans" pitchFamily="34" charset="0"/>
                          <a:ea typeface="IBM Plex Sans" pitchFamily="34" charset="-122"/>
                          <a:cs typeface="IBM Plex Sans" pitchFamily="34" charset="-120"/>
                        </a:rPr>
                        <a:t>Max</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CBE"/>
                      </a:solidFill>
                      <a:prstDash val="solid"/>
                      <a:round/>
                      <a:headEnd type="none" w="med" len="med"/>
                      <a:tailEnd type="none" w="med" len="med"/>
                    </a:lnL>
                    <a:lnR w="12700" cap="flat" cmpd="sng" algn="ctr">
                      <a:solidFill>
                        <a:srgbClr val="B9BCBE"/>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B9BCBE"/>
                      </a:solidFill>
                      <a:prstDash val="solid"/>
                      <a:round/>
                      <a:headEnd type="none" w="med" len="med"/>
                      <a:tailEnd type="none" w="med" len="med"/>
                    </a:lnB>
                    <a:solidFill>
                      <a:srgbClr val="E8EBEE"/>
                    </a:solidFill>
                  </a:tcPr>
                </a:tc>
                <a:tc>
                  <a:txBody>
                    <a:bodyPr/>
                    <a:lstStyle/>
                    <a:p>
                      <a:pPr algn="r" indent="0" marL="0">
                        <a:lnSpc>
                          <a:spcPts val="1680"/>
                        </a:lnSpc>
                        <a:buNone/>
                      </a:pPr>
                      <a:r>
                        <a:rPr lang="en-US" sz="1200" b="1" dirty="0">
                          <a:solidFill>
                            <a:srgbClr val="14171C"/>
                          </a:solidFill>
                          <a:latin typeface="IBM Plex Sans" pitchFamily="34" charset="0"/>
                          <a:ea typeface="IBM Plex Sans" pitchFamily="34" charset="-122"/>
                          <a:cs typeface="IBM Plex Sans" pitchFamily="34" charset="-120"/>
                        </a:rPr>
                        <a:t>Skewness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CBE"/>
                      </a:solidFill>
                      <a:prstDash val="solid"/>
                      <a:round/>
                      <a:headEnd type="none" w="med" len="med"/>
                      <a:tailEnd type="none" w="med" len="med"/>
                    </a:lnL>
                    <a:lnR w="12700" cap="flat" cmpd="sng" algn="ctr">
                      <a:solidFill>
                        <a:srgbClr val="B9BCBE"/>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B9BCBE"/>
                      </a:solidFill>
                      <a:prstDash val="solid"/>
                      <a:round/>
                      <a:headEnd type="none" w="med" len="med"/>
                      <a:tailEnd type="none" w="med" len="med"/>
                    </a:lnB>
                    <a:solidFill>
                      <a:srgbClr val="E8EBEE"/>
                    </a:solidFill>
                  </a:tcPr>
                </a:tc>
              </a:tr>
              <a:tr h="332740">
                <a:tc>
                  <a:txBody>
                    <a:bodyPr/>
                    <a:lstStyle/>
                    <a:p>
                      <a:pP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B9BCBE"/>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28.3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B9BCBE"/>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28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B9BCBE"/>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13.2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B9BCBE"/>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23-33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B9BCBE"/>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41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B9BCBE"/>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384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B9BCBE"/>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11.0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B9BCBE"/>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r>
              <a:tr h="332740">
                <a:tc>
                  <a:txBody>
                    <a:bodyPr/>
                    <a:lstStyle/>
                    <a:p>
                      <a:pP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54.2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54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14.6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47-62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74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221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1.7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r>
              <a:tr h="332740">
                <a:tc>
                  <a:txBody>
                    <a:bodyPr/>
                    <a:lstStyle/>
                    <a:p>
                      <a:pP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61.2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61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17.7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53-69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84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394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4.0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r>
              <a:tr h="332740">
                <a:tc>
                  <a:txBody>
                    <a:bodyPr/>
                    <a:lstStyle/>
                    <a:p>
                      <a:pP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59.1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59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15.0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52-67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80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287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1.2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r>
              <a:tr h="332740">
                <a:tc>
                  <a:txBody>
                    <a:bodyPr/>
                    <a:lstStyle/>
                    <a:p>
                      <a:pP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57.8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57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16.3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49-66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81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353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2.9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r>
              <a:tr h="332740">
                <a:tc>
                  <a:txBody>
                    <a:bodyPr/>
                    <a:lstStyle/>
                    <a:p>
                      <a:pP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46.0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45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16.1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35-56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73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143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0.4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r>
            </a:tbl>
          </a:graphicData>
        </a:graphic>
      </p:graphicFrame>
      <p:sp>
        <p:nvSpPr>
          <p:cNvPr id="12" name="Text 9"/>
          <p:cNvSpPr/>
          <p:nvPr/>
        </p:nvSpPr>
        <p:spPr>
          <a:xfrm>
            <a:off x="8585200" y="3007361"/>
            <a:ext cx="287782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171C"/>
                </a:solidFill>
                <a:latin typeface="IBM Plex Sans" pitchFamily="34" charset="0"/>
                <a:ea typeface="IBM Plex Sans" pitchFamily="34" charset="-122"/>
                <a:cs typeface="IBM Plex Sans" pitchFamily="34" charset="-120"/>
              </a:rPr>
              <a:t>The typical day is symmetric</a:t>
            </a:r>
            <a:endParaRPr lang="en-US" sz="1500" dirty="0"/>
          </a:p>
        </p:txBody>
      </p:sp>
      <p:sp>
        <p:nvSpPr>
          <p:cNvPr id="13" name="Text 10"/>
          <p:cNvSpPr/>
          <p:nvPr/>
        </p:nvSpPr>
        <p:spPr>
          <a:xfrm>
            <a:off x="8585200" y="3350261"/>
            <a:ext cx="287782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Mean and median agree within 1 in every division.</a:t>
            </a:r>
            <a:endParaRPr lang="en-US" sz="1200" dirty="0"/>
          </a:p>
        </p:txBody>
      </p:sp>
      <p:sp>
        <p:nvSpPr>
          <p:cNvPr id="14" name="Text 11"/>
          <p:cNvSpPr/>
          <p:nvPr/>
        </p:nvSpPr>
        <p:spPr>
          <a:xfrm>
            <a:off x="8585200" y="3954780"/>
            <a:ext cx="287782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171C"/>
                </a:solidFill>
                <a:latin typeface="IBM Plex Sans" pitchFamily="34" charset="0"/>
                <a:ea typeface="IBM Plex Sans" pitchFamily="34" charset="-122"/>
                <a:cs typeface="IBM Plex Sans" pitchFamily="34" charset="-120"/>
              </a:rPr>
              <a:t>The tails are storm days</a:t>
            </a:r>
            <a:endParaRPr lang="en-US" sz="1500" dirty="0"/>
          </a:p>
        </p:txBody>
      </p:sp>
      <p:sp>
        <p:nvSpPr>
          <p:cNvPr id="15" name="Text 12"/>
          <p:cNvSpPr/>
          <p:nvPr/>
        </p:nvSpPr>
        <p:spPr>
          <a:xfrm>
            <a:off x="8585200" y="4297680"/>
            <a:ext cx="287782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Division 1's maximum is 13 times its median. MAE, which targets the median, is the right metric.</a:t>
            </a:r>
            <a:endParaRPr lang="en-US" sz="1200" dirty="0"/>
          </a:p>
        </p:txBody>
      </p:sp>
      <p:sp>
        <p:nvSpPr>
          <p:cNvPr id="16" name="Text 13"/>
          <p:cNvSpPr/>
          <p:nvPr/>
        </p:nvSpPr>
        <p:spPr>
          <a:xfrm>
            <a:off x="812800" y="6238239"/>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A73"/>
                </a:solidFill>
                <a:latin typeface="IBM Plex Sans" pitchFamily="34" charset="0"/>
                <a:ea typeface="IBM Plex Sans" pitchFamily="34" charset="-122"/>
                <a:cs typeface="IBM Plex Sans" pitchFamily="34" charset="-120"/>
              </a:rPr>
              <a:t>Source: Ville de Montréal open data (CC BY 4.0), retrieved 2026-09-26</a:t>
            </a:r>
            <a:endParaRPr lang="en-US" sz="1200" dirty="0"/>
          </a:p>
        </p:txBody>
      </p:sp>
      <p:sp>
        <p:nvSpPr>
          <p:cNvPr id="17" name="Text 14"/>
          <p:cNvSpPr/>
          <p:nvPr/>
        </p:nvSpPr>
        <p:spPr>
          <a:xfrm>
            <a:off x="10566400" y="6238239"/>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A73"/>
                </a:solidFill>
                <a:latin typeface="IBM Plex Sans" pitchFamily="34" charset="0"/>
                <a:ea typeface="IBM Plex Sans" pitchFamily="34" charset="-122"/>
                <a:cs typeface="IBM Plex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7"/>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4171C"/>
                </a:solidFill>
                <a:latin typeface="IBM Plex Sans Condensed" pitchFamily="34" charset="0"/>
                <a:ea typeface="IBM Plex Sans Condensed" pitchFamily="34" charset="-122"/>
                <a:cs typeface="IBM Plex Sans Condensed" pitchFamily="34" charset="-120"/>
              </a:rPr>
              <a:t>Small, known gaps, each with a plan</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26539"/>
          <a:ext cx="10553700" cy="1996440"/>
        </p:xfrm>
        <a:graphic>
          <a:graphicData uri="http://schemas.openxmlformats.org/drawingml/2006/table">
            <a:tbl>
              <a:tblPr/>
              <a:tblGrid>
                <a:gridCol w="3799332"/>
                <a:gridCol w="1477518"/>
                <a:gridCol w="5276850"/>
              </a:tblGrid>
              <a:tr h="332740">
                <a:tc>
                  <a:txBody>
                    <a:bodyPr/>
                    <a:lstStyle/>
                    <a:p>
                      <a:pPr indent="0" marL="0">
                        <a:lnSpc>
                          <a:spcPts val="1680"/>
                        </a:lnSpc>
                        <a:buNone/>
                      </a:pPr>
                      <a:r>
                        <a:rPr lang="en-US" sz="1200" b="1" dirty="0">
                          <a:solidFill>
                            <a:srgbClr val="14171C"/>
                          </a:solidFill>
                          <a:latin typeface="IBM Plex Sans" pitchFamily="34" charset="0"/>
                          <a:ea typeface="IBM Plex Sans" pitchFamily="34" charset="-122"/>
                          <a:cs typeface="IBM Plex Sans" pitchFamily="34" charset="-120"/>
                        </a:rPr>
                        <a:t>Issue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B9BCBE"/>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B9BCBE"/>
                      </a:solidFill>
                      <a:prstDash val="solid"/>
                      <a:round/>
                      <a:headEnd type="none" w="med" len="med"/>
                      <a:tailEnd type="none" w="med" len="med"/>
                    </a:lnB>
                    <a:solidFill>
                      <a:srgbClr val="E8EBEE"/>
                    </a:solidFill>
                  </a:tcPr>
                </a:tc>
                <a:tc>
                  <a:txBody>
                    <a:bodyPr/>
                    <a:lstStyle/>
                    <a:p>
                      <a:pPr algn="r" indent="0" marL="0">
                        <a:lnSpc>
                          <a:spcPts val="1680"/>
                        </a:lnSpc>
                        <a:buNone/>
                      </a:pPr>
                      <a:r>
                        <a:rPr lang="en-US" sz="1200" b="1" dirty="0">
                          <a:solidFill>
                            <a:srgbClr val="14171C"/>
                          </a:solidFill>
                          <a:latin typeface="IBM Plex Sans" pitchFamily="34" charset="0"/>
                          <a:ea typeface="IBM Plex Sans" pitchFamily="34" charset="-122"/>
                          <a:cs typeface="IBM Plex Sans" pitchFamily="34" charset="-120"/>
                        </a:rPr>
                        <a:t>Size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CBE"/>
                      </a:solidFill>
                      <a:prstDash val="solid"/>
                      <a:round/>
                      <a:headEnd type="none" w="med" len="med"/>
                      <a:tailEnd type="none" w="med" len="med"/>
                    </a:lnL>
                    <a:lnR w="12700" cap="flat" cmpd="sng" algn="ctr">
                      <a:solidFill>
                        <a:srgbClr val="B9BCBE"/>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B9BCBE"/>
                      </a:solidFill>
                      <a:prstDash val="solid"/>
                      <a:round/>
                      <a:headEnd type="none" w="med" len="med"/>
                      <a:tailEnd type="none" w="med" len="med"/>
                    </a:lnB>
                    <a:solidFill>
                      <a:srgbClr val="E8EBEE"/>
                    </a:solidFill>
                  </a:tcPr>
                </a:tc>
                <a:tc>
                  <a:txBody>
                    <a:bodyPr/>
                    <a:lstStyle/>
                    <a:p>
                      <a:pPr indent="0" marL="0">
                        <a:lnSpc>
                          <a:spcPts val="1680"/>
                        </a:lnSpc>
                        <a:buNone/>
                      </a:pPr>
                      <a:r>
                        <a:rPr lang="en-US" sz="1200" b="1" dirty="0">
                          <a:solidFill>
                            <a:srgbClr val="14171C"/>
                          </a:solidFill>
                          <a:latin typeface="IBM Plex Sans" pitchFamily="34" charset="0"/>
                          <a:ea typeface="IBM Plex Sans" pitchFamily="34" charset="-122"/>
                          <a:cs typeface="IBM Plex Sans" pitchFamily="34" charset="-120"/>
                        </a:rPr>
                        <a:t>Planned handling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CBE"/>
                      </a:solidFill>
                      <a:prstDash val="solid"/>
                      <a:round/>
                      <a:headEnd type="none" w="med" len="med"/>
                      <a:tailEnd type="none" w="med" len="med"/>
                    </a:lnL>
                    <a:lnR w="12700" cap="flat" cmpd="sng" algn="ctr">
                      <a:solidFill>
                        <a:srgbClr val="B9BCBE"/>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B9BCBE"/>
                      </a:solidFill>
                      <a:prstDash val="solid"/>
                      <a:round/>
                      <a:headEnd type="none" w="med" len="med"/>
                      <a:tailEnd type="none" w="med" len="med"/>
                    </a:lnB>
                    <a:solidFill>
                      <a:srgbClr val="E8EBEE"/>
                    </a:solidFill>
                  </a:tcPr>
                </a:tc>
              </a:tr>
              <a:tr h="332740">
                <a:tc>
                  <a:txBody>
                    <a:bodyPr/>
                    <a:lstStyle/>
                    <a:p>
                      <a:pP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2024-12-31 missing from both files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B9BCBE"/>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1 day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B9BCBE"/>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Kept as null, never 0; that day is not scored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B9BCBE"/>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r>
              <a:tr h="332740">
                <a:tc>
                  <a:txBody>
                    <a:bodyPr/>
                    <a:lstStyle/>
                    <a:p>
                      <a:pP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Division code 0, undocumented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600 rows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Excluded from the target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r>
              <a:tr h="332740">
                <a:tc>
                  <a:txBody>
                    <a:bodyPr/>
                    <a:lstStyle/>
                    <a:p>
                      <a:pP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Blank incident group, mostly fire-type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1,788 rows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Not in the target; counted as non-first-responder in share features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r>
              <a:tr h="332740">
                <a:tc>
                  <a:txBody>
                    <a:bodyPr/>
                    <a:lstStyle/>
                    <a:p>
                      <a:pP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Date-only timestamps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8 rows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Counted on their date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r>
              <a:tr h="332740">
                <a:tc>
                  <a:txBody>
                    <a:bodyPr/>
                    <a:lstStyle/>
                    <a:p>
                      <a:pP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Duplicate (year, incident number)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Key is unique; the two files do not overlap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r>
            </a:tbl>
          </a:graphicData>
        </a:graphic>
      </p:graphicFrame>
      <p:sp>
        <p:nvSpPr>
          <p:cNvPr id="4" name="Shape 1"/>
          <p:cNvSpPr/>
          <p:nvPr/>
        </p:nvSpPr>
        <p:spPr>
          <a:xfrm>
            <a:off x="812800" y="3783330"/>
            <a:ext cx="5080000" cy="0"/>
          </a:xfrm>
          <a:prstGeom prst="line">
            <a:avLst/>
          </a:prstGeom>
          <a:noFill/>
          <a:ln w="12700">
            <a:solidFill>
              <a:srgbClr val="14171C"/>
            </a:solidFill>
            <a:prstDash val="solid"/>
          </a:ln>
        </p:spPr>
      </p:sp>
      <p:sp>
        <p:nvSpPr>
          <p:cNvPr id="5" name="Text 2"/>
          <p:cNvSpPr/>
          <p:nvPr/>
        </p:nvSpPr>
        <p:spPr>
          <a:xfrm>
            <a:off x="812800" y="3916680"/>
            <a:ext cx="52324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171C"/>
                </a:solidFill>
                <a:latin typeface="IBM Plex Sans" pitchFamily="34" charset="0"/>
                <a:ea typeface="IBM Plex Sans" pitchFamily="34" charset="-122"/>
                <a:cs typeface="IBM Plex Sans" pitchFamily="34" charset="-120"/>
              </a:rPr>
              <a:t>Coverage</a:t>
            </a:r>
            <a:endParaRPr lang="en-US" sz="1500" dirty="0"/>
          </a:p>
        </p:txBody>
      </p:sp>
      <p:sp>
        <p:nvSpPr>
          <p:cNvPr id="6" name="Text 3"/>
          <p:cNvSpPr/>
          <p:nvPr/>
        </p:nvSpPr>
        <p:spPr>
          <a:xfrm>
            <a:off x="812800" y="4234180"/>
            <a:ext cx="523240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The open data hold about 94% of the interventions SIM reports (2022-2024), so the target is published interventions.</a:t>
            </a:r>
            <a:endParaRPr lang="en-US" sz="1200" dirty="0"/>
          </a:p>
        </p:txBody>
      </p:sp>
      <p:sp>
        <p:nvSpPr>
          <p:cNvPr id="7" name="Shape 4"/>
          <p:cNvSpPr/>
          <p:nvPr/>
        </p:nvSpPr>
        <p:spPr>
          <a:xfrm>
            <a:off x="6299200" y="3783330"/>
            <a:ext cx="5080000" cy="0"/>
          </a:xfrm>
          <a:prstGeom prst="line">
            <a:avLst/>
          </a:prstGeom>
          <a:noFill/>
          <a:ln w="12700">
            <a:solidFill>
              <a:srgbClr val="14171C"/>
            </a:solidFill>
            <a:prstDash val="solid"/>
          </a:ln>
        </p:spPr>
      </p:sp>
      <p:sp>
        <p:nvSpPr>
          <p:cNvPr id="8" name="Text 5"/>
          <p:cNvSpPr/>
          <p:nvPr/>
        </p:nvSpPr>
        <p:spPr>
          <a:xfrm>
            <a:off x="6299200" y="3916680"/>
            <a:ext cx="52324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171C"/>
                </a:solidFill>
                <a:latin typeface="IBM Plex Sans" pitchFamily="34" charset="0"/>
                <a:ea typeface="IBM Plex Sans" pitchFamily="34" charset="-122"/>
                <a:cs typeface="IBM Plex Sans" pitchFamily="34" charset="-120"/>
              </a:rPr>
              <a:t>Outliers</a:t>
            </a:r>
            <a:endParaRPr lang="en-US" sz="1500" dirty="0"/>
          </a:p>
        </p:txBody>
      </p:sp>
      <p:sp>
        <p:nvSpPr>
          <p:cNvPr id="9" name="Text 6"/>
          <p:cNvSpPr/>
          <p:nvPr/>
        </p:nvSpPr>
        <p:spPr>
          <a:xfrm>
            <a:off x="6299200" y="4234180"/>
            <a:ext cx="523240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134 division-days (0.91%) flagged by robust STL residuals with z above 6. Kept, and evaluated with and without.</a:t>
            </a:r>
            <a:endParaRPr lang="en-US" sz="1200" dirty="0"/>
          </a:p>
        </p:txBody>
      </p:sp>
      <p:sp>
        <p:nvSpPr>
          <p:cNvPr id="10" name="Text 7"/>
          <p:cNvSpPr/>
          <p:nvPr/>
        </p:nvSpPr>
        <p:spPr>
          <a:xfrm>
            <a:off x="812800" y="49149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74D57"/>
                </a:solidFill>
                <a:latin typeface="IBM Plex Sans" pitchFamily="34" charset="0"/>
                <a:ea typeface="IBM Plex Sans" pitchFamily="34" charset="-122"/>
                <a:cs typeface="IBM Plex Sans" pitchFamily="34" charset="-120"/>
              </a:rPr>
              <a:t>Leakage:</a:t>
            </a:r>
            <a:r>
              <a:rPr lang="en-US" sz="1200" dirty="0">
                <a:solidFill>
                  <a:srgbClr val="474D57"/>
                </a:solidFill>
                <a:latin typeface="IBM Plex Sans" pitchFamily="34" charset="0"/>
                <a:ea typeface="IBM Plex Sans" pitchFamily="34" charset="-122"/>
                <a:cs typeface="IBM Plex Sans" pitchFamily="34" charset="-120"/>
              </a:rPr>
              <a:t> day D's incident type, caserne and vehicles are known only after D, so they are never inputs. Lagged counts stop at D−3.</a:t>
            </a:r>
            <a:endParaRPr lang="en-US" sz="1200" dirty="0"/>
          </a:p>
        </p:txBody>
      </p:sp>
      <p:sp>
        <p:nvSpPr>
          <p:cNvPr id="11" name="Text 8"/>
          <p:cNvSpPr/>
          <p:nvPr/>
        </p:nvSpPr>
        <p:spPr>
          <a:xfrm>
            <a:off x="812800" y="6238239"/>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A73"/>
                </a:solidFill>
                <a:latin typeface="IBM Plex Sans" pitchFamily="34" charset="0"/>
                <a:ea typeface="IBM Plex Sans" pitchFamily="34" charset="-122"/>
                <a:cs typeface="IBM Plex Sans" pitchFamily="34" charset="-120"/>
              </a:rPr>
              <a:t>Team 4, SIM interventions EDA</a:t>
            </a:r>
            <a:endParaRPr lang="en-US" sz="1200" dirty="0"/>
          </a:p>
        </p:txBody>
      </p:sp>
      <p:sp>
        <p:nvSpPr>
          <p:cNvPr id="12" name="Text 9"/>
          <p:cNvSpPr/>
          <p:nvPr/>
        </p:nvSpPr>
        <p:spPr>
          <a:xfrm>
            <a:off x="10566400" y="6238239"/>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A73"/>
                </a:solidFill>
                <a:latin typeface="IBM Plex Sans" pitchFamily="34" charset="0"/>
                <a:ea typeface="IBM Plex Sans" pitchFamily="34" charset="-122"/>
                <a:cs typeface="IBM Plex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7"/>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4171C"/>
                </a:solidFill>
                <a:latin typeface="IBM Plex Sans Condensed" pitchFamily="34" charset="0"/>
                <a:ea typeface="IBM Plex Sans Condensed" pitchFamily="34" charset="-122"/>
                <a:cs typeface="IBM Plex Sans Condensed" pitchFamily="34" charset="-120"/>
              </a:rPr>
              <a:t>The level shifts with first-responder calls</a:t>
            </a:r>
            <a:endParaRPr lang="en-US" sz="3200" dirty="0"/>
          </a:p>
        </p:txBody>
      </p:sp>
      <p:sp>
        <p:nvSpPr>
          <p:cNvPr id="3" name="Shape 1"/>
          <p:cNvSpPr/>
          <p:nvPr/>
        </p:nvSpPr>
        <p:spPr>
          <a:xfrm>
            <a:off x="815975" y="1567814"/>
            <a:ext cx="7207250" cy="3136900"/>
          </a:xfrm>
          <a:prstGeom prst="rect">
            <a:avLst/>
          </a:prstGeom>
          <a:solidFill>
            <a:srgbClr val="FCFCFB"/>
          </a:solidFill>
          <a:ln w="6350">
            <a:solidFill>
              <a:srgbClr val="D5D9DE"/>
            </a:solidFill>
            <a:prstDash val="solid"/>
          </a:ln>
        </p:spPr>
      </p:sp>
      <p:pic>
        <p:nvPicPr>
          <p:cNvPr id="4" name="Image 0" descr="Stacked monthly interventions per day by group, 2020 to 2026: first-responder calls nearly vanish in spring 2020 and drop again from late 2025 while other groups hold">    </p:cNvPr>
          <p:cNvPicPr>
            <a:picLocks noChangeAspect="1"/>
          </p:cNvPicPr>
          <p:nvPr/>
        </p:nvPicPr>
        <p:blipFill>
          <a:blip r:embed="rId1"/>
          <a:srcRect l="-6" r="-6" t="0" b="0"/>
          <a:stretch/>
        </p:blipFill>
        <p:spPr>
          <a:xfrm>
            <a:off x="971550" y="1723389"/>
            <a:ext cx="6896100" cy="2825750"/>
          </a:xfrm>
          <a:prstGeom prst="rect">
            <a:avLst/>
          </a:prstGeom>
        </p:spPr>
      </p:pic>
      <p:sp>
        <p:nvSpPr>
          <p:cNvPr id="5" name="Text 2"/>
          <p:cNvSpPr/>
          <p:nvPr/>
        </p:nvSpPr>
        <p:spPr>
          <a:xfrm>
            <a:off x="8432800" y="1564639"/>
            <a:ext cx="303479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4171C"/>
                </a:solidFill>
                <a:latin typeface="IBM Plex Sans Condensed" pitchFamily="34" charset="0"/>
                <a:ea typeface="IBM Plex Sans Condensed" pitchFamily="34" charset="-122"/>
                <a:cs typeface="IBM Plex Sans Condensed" pitchFamily="34" charset="-120"/>
              </a:rPr>
              <a:t>227 to 358</a:t>
            </a:r>
            <a:endParaRPr lang="en-US" sz="2000" dirty="0"/>
          </a:p>
        </p:txBody>
      </p:sp>
      <p:sp>
        <p:nvSpPr>
          <p:cNvPr id="6" name="Text 3"/>
          <p:cNvSpPr/>
          <p:nvPr/>
        </p:nvSpPr>
        <p:spPr>
          <a:xfrm>
            <a:off x="8432800" y="1958339"/>
            <a:ext cx="303479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interventions a day, citywide, 2020 (COVID) to 2025; flat in 2023-24</a:t>
            </a:r>
            <a:endParaRPr lang="en-US" sz="1200" dirty="0"/>
          </a:p>
        </p:txBody>
      </p:sp>
      <p:sp>
        <p:nvSpPr>
          <p:cNvPr id="7" name="Text 4"/>
          <p:cNvSpPr/>
          <p:nvPr/>
        </p:nvSpPr>
        <p:spPr>
          <a:xfrm>
            <a:off x="8432800" y="2588261"/>
            <a:ext cx="303479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4171C"/>
                </a:solidFill>
                <a:latin typeface="IBM Plex Sans Condensed" pitchFamily="34" charset="0"/>
                <a:ea typeface="IBM Plex Sans Condensed" pitchFamily="34" charset="-122"/>
                <a:cs typeface="IBM Plex Sans Condensed" pitchFamily="34" charset="-120"/>
              </a:rPr>
              <a:t>Spring 2020</a:t>
            </a:r>
            <a:endParaRPr lang="en-US" sz="2000" dirty="0"/>
          </a:p>
        </p:txBody>
      </p:sp>
      <p:sp>
        <p:nvSpPr>
          <p:cNvPr id="8" name="Text 5"/>
          <p:cNvSpPr/>
          <p:nvPr/>
        </p:nvSpPr>
        <p:spPr>
          <a:xfrm>
            <a:off x="8432800" y="2981961"/>
            <a:ext cx="303479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first-responder calls nearly vanish for about three months</a:t>
            </a:r>
            <a:endParaRPr lang="en-US" sz="1200" dirty="0"/>
          </a:p>
        </p:txBody>
      </p:sp>
      <p:sp>
        <p:nvSpPr>
          <p:cNvPr id="9" name="Text 6"/>
          <p:cNvSpPr/>
          <p:nvPr/>
        </p:nvSpPr>
        <p:spPr>
          <a:xfrm>
            <a:off x="8432800" y="3611879"/>
            <a:ext cx="303479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3261E"/>
                </a:solidFill>
                <a:latin typeface="IBM Plex Sans Condensed" pitchFamily="34" charset="0"/>
                <a:ea typeface="IBM Plex Sans Condensed" pitchFamily="34" charset="-122"/>
                <a:cs typeface="IBM Plex Sans Condensed" pitchFamily="34" charset="-120"/>
              </a:rPr>
              <a:t>−25% to −30%</a:t>
            </a:r>
            <a:endParaRPr lang="en-US" sz="2000" dirty="0"/>
          </a:p>
        </p:txBody>
      </p:sp>
      <p:sp>
        <p:nvSpPr>
          <p:cNvPr id="10" name="Text 7"/>
          <p:cNvSpPr/>
          <p:nvPr/>
        </p:nvSpPr>
        <p:spPr>
          <a:xfrm>
            <a:off x="8432800" y="4005579"/>
            <a:ext cx="3034792"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first-responder calls in Divisions 1-5, 2026 vs 2025, while Division 6 rose 9.5%. Cause not documented.</a:t>
            </a:r>
            <a:endParaRPr lang="en-US" sz="1200" dirty="0"/>
          </a:p>
        </p:txBody>
      </p:sp>
      <p:sp>
        <p:nvSpPr>
          <p:cNvPr id="11" name="Text 8"/>
          <p:cNvSpPr/>
          <p:nvPr/>
        </p:nvSpPr>
        <p:spPr>
          <a:xfrm>
            <a:off x="812800" y="5012689"/>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171C"/>
                </a:solidFill>
                <a:latin typeface="IBM Plex Sans" pitchFamily="34" charset="0"/>
                <a:ea typeface="IBM Plex Sans" pitchFamily="34" charset="-122"/>
                <a:cs typeface="IBM Plex Sans" pitchFamily="34" charset="-120"/>
              </a:rPr>
              <a:t>Train on 2021-2024, track the level with recent features, and treat 2025 onward as a drift test.</a:t>
            </a:r>
            <a:endParaRPr lang="en-US" sz="1500" dirty="0"/>
          </a:p>
        </p:txBody>
      </p:sp>
      <p:sp>
        <p:nvSpPr>
          <p:cNvPr id="12" name="Text 9"/>
          <p:cNvSpPr/>
          <p:nvPr/>
        </p:nvSpPr>
        <p:spPr>
          <a:xfrm>
            <a:off x="812800" y="6238239"/>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A73"/>
                </a:solidFill>
                <a:latin typeface="IBM Plex Sans" pitchFamily="34" charset="0"/>
                <a:ea typeface="IBM Plex Sans" pitchFamily="34" charset="-122"/>
                <a:cs typeface="IBM Plex Sans" pitchFamily="34" charset="-120"/>
              </a:rPr>
              <a:t>Team 4, SIM interventions EDA</a:t>
            </a:r>
            <a:endParaRPr lang="en-US" sz="1200" dirty="0"/>
          </a:p>
        </p:txBody>
      </p:sp>
      <p:sp>
        <p:nvSpPr>
          <p:cNvPr id="13" name="Text 10"/>
          <p:cNvSpPr/>
          <p:nvPr/>
        </p:nvSpPr>
        <p:spPr>
          <a:xfrm>
            <a:off x="10566400" y="6238239"/>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A73"/>
                </a:solidFill>
                <a:latin typeface="IBM Plex Sans" pitchFamily="34" charset="0"/>
                <a:ea typeface="IBM Plex Sans" pitchFamily="34" charset="-122"/>
                <a:cs typeface="IBM Plex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7"/>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4171C"/>
                </a:solidFill>
                <a:latin typeface="IBM Plex Sans Condensed" pitchFamily="34" charset="0"/>
                <a:ea typeface="IBM Plex Sans Condensed" pitchFamily="34" charset="-122"/>
                <a:cs typeface="IBM Plex Sans Condensed" pitchFamily="34" charset="-120"/>
              </a:rPr>
              <a:t>Shocks are rare, shared and weather-driven</a:t>
            </a:r>
            <a:endParaRPr lang="en-US" sz="3200" dirty="0"/>
          </a:p>
        </p:txBody>
      </p:sp>
      <p:sp>
        <p:nvSpPr>
          <p:cNvPr id="3" name="Text 1"/>
          <p:cNvSpPr/>
          <p:nvPr/>
        </p:nvSpPr>
        <p:spPr>
          <a:xfrm>
            <a:off x="812800" y="1564639"/>
            <a:ext cx="3662680"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B3261E"/>
                </a:solidFill>
                <a:latin typeface="IBM Plex Sans Condensed" pitchFamily="34" charset="0"/>
                <a:ea typeface="IBM Plex Sans Condensed" pitchFamily="34" charset="-122"/>
                <a:cs typeface="IBM Plex Sans Condensed" pitchFamily="34" charset="-120"/>
              </a:rPr>
              <a:t>0.91%</a:t>
            </a:r>
            <a:endParaRPr lang="en-US" sz="3200" dirty="0"/>
          </a:p>
        </p:txBody>
      </p:sp>
      <p:sp>
        <p:nvSpPr>
          <p:cNvPr id="4" name="Text 2"/>
          <p:cNvSpPr/>
          <p:nvPr/>
        </p:nvSpPr>
        <p:spPr>
          <a:xfrm>
            <a:off x="812800" y="2049779"/>
            <a:ext cx="366268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of division-days are anomalies: robust STL residual with z above 6</a:t>
            </a:r>
            <a:endParaRPr lang="en-US" sz="1200" dirty="0"/>
          </a:p>
        </p:txBody>
      </p:sp>
      <p:sp>
        <p:nvSpPr>
          <p:cNvPr id="5" name="Text 3"/>
          <p:cNvSpPr/>
          <p:nvPr/>
        </p:nvSpPr>
        <p:spPr>
          <a:xfrm>
            <a:off x="812800" y="2679700"/>
            <a:ext cx="366268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4171C"/>
                </a:solidFill>
                <a:latin typeface="IBM Plex Sans Condensed" pitchFamily="34" charset="0"/>
                <a:ea typeface="IBM Plex Sans Condensed" pitchFamily="34" charset="-122"/>
                <a:cs typeface="IBM Plex Sans Condensed" pitchFamily="34" charset="-120"/>
              </a:rPr>
              <a:t>16 dates</a:t>
            </a:r>
            <a:endParaRPr lang="en-US" sz="2000" dirty="0"/>
          </a:p>
        </p:txBody>
      </p:sp>
      <p:sp>
        <p:nvSpPr>
          <p:cNvPr id="6" name="Text 4"/>
          <p:cNvSpPr/>
          <p:nvPr/>
        </p:nvSpPr>
        <p:spPr>
          <a:xfrm>
            <a:off x="812800" y="3073400"/>
            <a:ext cx="366268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anomalous in 3 or more divisions at once; the April 2023 ice storm peaked at 1,712 interventions</a:t>
            </a:r>
            <a:endParaRPr lang="en-US" sz="1200" dirty="0"/>
          </a:p>
        </p:txBody>
      </p:sp>
      <p:sp>
        <p:nvSpPr>
          <p:cNvPr id="7" name="Text 5"/>
          <p:cNvSpPr/>
          <p:nvPr/>
        </p:nvSpPr>
        <p:spPr>
          <a:xfrm>
            <a:off x="812800" y="3703321"/>
            <a:ext cx="366268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4171C"/>
                </a:solidFill>
                <a:latin typeface="IBM Plex Sans Condensed" pitchFamily="34" charset="0"/>
                <a:ea typeface="IBM Plex Sans Condensed" pitchFamily="34" charset="-122"/>
                <a:cs typeface="IBM Plex Sans Condensed" pitchFamily="34" charset="-120"/>
              </a:rPr>
              <a:t>26% to 73%</a:t>
            </a:r>
            <a:endParaRPr lang="en-US" sz="2000" dirty="0"/>
          </a:p>
        </p:txBody>
      </p:sp>
      <p:sp>
        <p:nvSpPr>
          <p:cNvPr id="8" name="Text 6"/>
          <p:cNvSpPr/>
          <p:nvPr/>
        </p:nvSpPr>
        <p:spPr>
          <a:xfrm>
            <a:off x="812800" y="4097021"/>
            <a:ext cx="366268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non-medical calls on those days, against 21% overall: electrical problems and flooding</a:t>
            </a:r>
            <a:endParaRPr lang="en-US" sz="1200" dirty="0"/>
          </a:p>
        </p:txBody>
      </p:sp>
      <p:sp>
        <p:nvSpPr>
          <p:cNvPr id="9" name="Text 7"/>
          <p:cNvSpPr/>
          <p:nvPr/>
        </p:nvSpPr>
        <p:spPr>
          <a:xfrm>
            <a:off x="812800" y="4726939"/>
            <a:ext cx="366268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71C"/>
                </a:solidFill>
                <a:latin typeface="IBM Plex Sans" pitchFamily="34" charset="0"/>
                <a:ea typeface="IBM Plex Sans" pitchFamily="34" charset="-122"/>
                <a:cs typeface="IBM Plex Sans" pitchFamily="34" charset="-120"/>
              </a:rPr>
              <a:t>Neither the calendar nor counts up to D−3 predict them.</a:t>
            </a:r>
            <a:endParaRPr lang="en-US" sz="1200" dirty="0"/>
          </a:p>
        </p:txBody>
      </p:sp>
      <p:sp>
        <p:nvSpPr>
          <p:cNvPr id="10" name="Shape 8"/>
          <p:cNvSpPr/>
          <p:nvPr/>
        </p:nvSpPr>
        <p:spPr>
          <a:xfrm>
            <a:off x="4778375" y="1567814"/>
            <a:ext cx="6597650" cy="2933700"/>
          </a:xfrm>
          <a:prstGeom prst="rect">
            <a:avLst/>
          </a:prstGeom>
          <a:solidFill>
            <a:srgbClr val="FCFCFB"/>
          </a:solidFill>
          <a:ln w="6350">
            <a:solidFill>
              <a:srgbClr val="D5D9DE"/>
            </a:solidFill>
            <a:prstDash val="solid"/>
          </a:ln>
        </p:spPr>
      </p:sp>
      <p:pic>
        <p:nvPicPr>
          <p:cNvPr id="11" name="Image 0" descr="Robust residuals for each of Divisions 1 to 6, 2020 to 2026, with anomaly days above z equals 6 highlighted; most anomalies cluster on the same dates across divisions">    </p:cNvPr>
          <p:cNvPicPr>
            <a:picLocks noChangeAspect="1"/>
          </p:cNvPicPr>
          <p:nvPr/>
        </p:nvPicPr>
        <p:blipFill>
          <a:blip r:embed="rId1"/>
          <a:srcRect l="0" r="0" t="-30" b="-30"/>
          <a:stretch/>
        </p:blipFill>
        <p:spPr>
          <a:xfrm>
            <a:off x="4933950" y="1723389"/>
            <a:ext cx="6286500" cy="2622550"/>
          </a:xfrm>
          <a:prstGeom prst="rect">
            <a:avLst/>
          </a:prstGeom>
        </p:spPr>
      </p:pic>
      <p:sp>
        <p:nvSpPr>
          <p:cNvPr id="12" name="Text 9"/>
          <p:cNvSpPr/>
          <p:nvPr/>
        </p:nvSpPr>
        <p:spPr>
          <a:xfrm>
            <a:off x="812800" y="6238239"/>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A73"/>
                </a:solidFill>
                <a:latin typeface="IBM Plex Sans" pitchFamily="34" charset="0"/>
                <a:ea typeface="IBM Plex Sans" pitchFamily="34" charset="-122"/>
                <a:cs typeface="IBM Plex Sans" pitchFamily="34" charset="-120"/>
              </a:rPr>
              <a:t>Team 4, SIM interventions EDA</a:t>
            </a:r>
            <a:endParaRPr lang="en-US" sz="1200" dirty="0"/>
          </a:p>
        </p:txBody>
      </p:sp>
      <p:sp>
        <p:nvSpPr>
          <p:cNvPr id="13" name="Text 10"/>
          <p:cNvSpPr/>
          <p:nvPr/>
        </p:nvSpPr>
        <p:spPr>
          <a:xfrm>
            <a:off x="10566400" y="6238239"/>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A73"/>
                </a:solidFill>
                <a:latin typeface="IBM Plex Sans" pitchFamily="34" charset="0"/>
                <a:ea typeface="IBM Plex Sans" pitchFamily="34" charset="-122"/>
                <a:cs typeface="IBM Plex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7"/>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4171C"/>
                </a:solidFill>
                <a:latin typeface="IBM Plex Sans Condensed" pitchFamily="34" charset="0"/>
                <a:ea typeface="IBM Plex Sans Condensed" pitchFamily="34" charset="-122"/>
                <a:cs typeface="IBM Plex Sans Condensed" pitchFamily="34" charset="-120"/>
              </a:rPr>
              <a:t>Divisions move together, except Division 6</a:t>
            </a:r>
            <a:endParaRPr lang="en-US" sz="3200" dirty="0"/>
          </a:p>
        </p:txBody>
      </p:sp>
      <p:sp>
        <p:nvSpPr>
          <p:cNvPr id="3" name="Text 1"/>
          <p:cNvSpPr/>
          <p:nvPr/>
        </p:nvSpPr>
        <p:spPr>
          <a:xfrm>
            <a:off x="812800" y="1463039"/>
            <a:ext cx="9810750"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74D57"/>
                </a:solidFill>
                <a:latin typeface="IBM Plex Sans" pitchFamily="34" charset="0"/>
                <a:ea typeface="IBM Plex Sans" pitchFamily="34" charset="-122"/>
                <a:cs typeface="IBM Plex Sans" pitchFamily="34" charset="-120"/>
              </a:rPr>
              <a:t>88.5%</a:t>
            </a:r>
            <a:r>
              <a:rPr lang="en-US" sz="1500" dirty="0">
                <a:solidFill>
                  <a:srgbClr val="474D57"/>
                </a:solidFill>
                <a:latin typeface="IBM Plex Sans" pitchFamily="34" charset="0"/>
                <a:ea typeface="IBM Plex Sans" pitchFamily="34" charset="-122"/>
                <a:cs typeface="IBM Plex Sans" pitchFamily="34" charset="-120"/>
              </a:rPr>
              <a:t> of month-to-month variation is shared by all six divisions. Division 6 sits </a:t>
            </a:r>
            <a:r>
              <a:rPr lang="en-US" sz="1500" b="1" dirty="0">
                <a:solidFill>
                  <a:srgbClr val="B3261E"/>
                </a:solidFill>
                <a:latin typeface="IBM Plex Sans" pitchFamily="34" charset="0"/>
                <a:ea typeface="IBM Plex Sans" pitchFamily="34" charset="-122"/>
                <a:cs typeface="IBM Plex Sans" pitchFamily="34" charset="-120"/>
              </a:rPr>
              <a:t>44% above</a:t>
            </a:r>
            <a:r>
              <a:rPr lang="en-US" sz="1500" dirty="0">
                <a:solidFill>
                  <a:srgbClr val="474D57"/>
                </a:solidFill>
                <a:latin typeface="IBM Plex Sans" pitchFamily="34" charset="0"/>
                <a:ea typeface="IBM Plex Sans" pitchFamily="34" charset="-122"/>
                <a:cs typeface="IBM Plex Sans" pitchFamily="34" charset="-120"/>
              </a:rPr>
              <a:t> the shared pattern in 2026, up from about 10% below it in 2020-21.</a:t>
            </a:r>
            <a:endParaRPr lang="en-US" sz="1500" dirty="0"/>
          </a:p>
        </p:txBody>
      </p:sp>
      <p:sp>
        <p:nvSpPr>
          <p:cNvPr id="4" name="Shape 2"/>
          <p:cNvSpPr/>
          <p:nvPr/>
        </p:nvSpPr>
        <p:spPr>
          <a:xfrm>
            <a:off x="812800" y="2199639"/>
            <a:ext cx="6985000" cy="3600450"/>
          </a:xfrm>
          <a:prstGeom prst="rect">
            <a:avLst/>
          </a:prstGeom>
          <a:solidFill>
            <a:srgbClr val="FCFCFB"/>
          </a:solidFill>
          <a:ln/>
        </p:spPr>
      </p:sp>
      <p:pic>
        <p:nvPicPr>
          <p:cNvPr id="5" name="Image 0" descr="Median polish of the division by month table: shared month effects over 2020 to 2026 on top, and a heatmap of division residuals below in which Division 6 turns strongly positive from 2025">    </p:cNvPr>
          <p:cNvPicPr>
            <a:picLocks noChangeAspect="1"/>
          </p:cNvPicPr>
          <p:nvPr/>
        </p:nvPicPr>
        <p:blipFill>
          <a:blip r:embed="rId1"/>
          <a:srcRect l="-74" r="-74" t="0" b="0"/>
          <a:stretch/>
        </p:blipFill>
        <p:spPr>
          <a:xfrm>
            <a:off x="819150" y="2205989"/>
            <a:ext cx="6972300" cy="3587750"/>
          </a:xfrm>
          <a:prstGeom prst="rect">
            <a:avLst/>
          </a:prstGeom>
        </p:spPr>
      </p:pic>
      <p:sp>
        <p:nvSpPr>
          <p:cNvPr id="6" name="Shape 3"/>
          <p:cNvSpPr/>
          <p:nvPr/>
        </p:nvSpPr>
        <p:spPr>
          <a:xfrm>
            <a:off x="815975" y="2202814"/>
            <a:ext cx="6978650" cy="3594100"/>
          </a:xfrm>
          <a:prstGeom prst="rect">
            <a:avLst/>
          </a:prstGeom>
          <a:noFill/>
          <a:ln w="6350">
            <a:solidFill>
              <a:srgbClr val="D5D9DE"/>
            </a:solidFill>
            <a:prstDash val="solid"/>
          </a:ln>
        </p:spPr>
      </p:sp>
      <p:sp>
        <p:nvSpPr>
          <p:cNvPr id="7" name="Text 4"/>
          <p:cNvSpPr/>
          <p:nvPr/>
        </p:nvSpPr>
        <p:spPr>
          <a:xfrm>
            <a:off x="812800" y="6238239"/>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A73"/>
                </a:solidFill>
                <a:latin typeface="IBM Plex Sans" pitchFamily="34" charset="0"/>
                <a:ea typeface="IBM Plex Sans" pitchFamily="34" charset="-122"/>
                <a:cs typeface="IBM Plex Sans" pitchFamily="34" charset="-120"/>
              </a:rPr>
              <a:t>Team 4, SIM interventions EDA</a:t>
            </a:r>
            <a:endParaRPr lang="en-US" sz="1200" dirty="0"/>
          </a:p>
        </p:txBody>
      </p:sp>
      <p:sp>
        <p:nvSpPr>
          <p:cNvPr id="8" name="Text 5"/>
          <p:cNvSpPr/>
          <p:nvPr/>
        </p:nvSpPr>
        <p:spPr>
          <a:xfrm>
            <a:off x="10566400" y="6238239"/>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A73"/>
                </a:solidFill>
                <a:latin typeface="IBM Plex Sans" pitchFamily="34" charset="0"/>
                <a:ea typeface="IBM Plex Sans" pitchFamily="34" charset="-122"/>
                <a:cs typeface="IBM Plex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8EB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4171C"/>
                </a:solidFill>
                <a:latin typeface="IBM Plex Sans Condensed" pitchFamily="34" charset="0"/>
                <a:ea typeface="IBM Plex Sans Condensed" pitchFamily="34" charset="-122"/>
                <a:cs typeface="IBM Plex Sans Condensed" pitchFamily="34" charset="-120"/>
              </a:rPr>
              <a:t>What this means for planning</a:t>
            </a:r>
            <a:endParaRPr lang="en-US" sz="3200" dirty="0"/>
          </a:p>
        </p:txBody>
      </p:sp>
      <p:sp>
        <p:nvSpPr>
          <p:cNvPr id="3" name="Text 1"/>
          <p:cNvSpPr/>
          <p:nvPr/>
        </p:nvSpPr>
        <p:spPr>
          <a:xfrm>
            <a:off x="812800" y="1615439"/>
            <a:ext cx="850265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171C"/>
                </a:solidFill>
                <a:latin typeface="IBM Plex Sans Condensed" pitchFamily="34" charset="0"/>
                <a:ea typeface="IBM Plex Sans Condensed" pitchFamily="34" charset="-122"/>
                <a:cs typeface="IBM Plex Sans Condensed" pitchFamily="34" charset="-120"/>
              </a:rPr>
              <a:t>Volume is not workload</a:t>
            </a:r>
            <a:endParaRPr lang="en-US" sz="2000" dirty="0"/>
          </a:p>
        </p:txBody>
      </p:sp>
      <p:sp>
        <p:nvSpPr>
          <p:cNvPr id="4" name="Text 2"/>
          <p:cNvSpPr/>
          <p:nvPr/>
        </p:nvSpPr>
        <p:spPr>
          <a:xfrm>
            <a:off x="812800" y="1996439"/>
            <a:ext cx="850265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74D57"/>
                </a:solidFill>
                <a:latin typeface="IBM Plex Sans" pitchFamily="34" charset="0"/>
                <a:ea typeface="IBM Plex Sans" pitchFamily="34" charset="-122"/>
                <a:cs typeface="IBM Plex Sans" pitchFamily="34" charset="-120"/>
              </a:rPr>
              <a:t>First-responder calls are 61% of incidents but 36% of vehicles. The forecast counts interventions, not the crews they need.</a:t>
            </a:r>
            <a:endParaRPr lang="en-US" sz="1500" dirty="0"/>
          </a:p>
        </p:txBody>
      </p:sp>
      <p:sp>
        <p:nvSpPr>
          <p:cNvPr id="5" name="Text 3"/>
          <p:cNvSpPr/>
          <p:nvPr/>
        </p:nvSpPr>
        <p:spPr>
          <a:xfrm>
            <a:off x="812800" y="2834639"/>
            <a:ext cx="850265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B3261E"/>
                </a:solidFill>
                <a:latin typeface="IBM Plex Sans Condensed" pitchFamily="34" charset="0"/>
                <a:ea typeface="IBM Plex Sans Condensed" pitchFamily="34" charset="-122"/>
                <a:cs typeface="IBM Plex Sans Condensed" pitchFamily="34" charset="-120"/>
              </a:rPr>
              <a:t>The riskiest days are shared</a:t>
            </a:r>
            <a:endParaRPr lang="en-US" sz="2000" dirty="0"/>
          </a:p>
        </p:txBody>
      </p:sp>
      <p:sp>
        <p:nvSpPr>
          <p:cNvPr id="6" name="Text 4"/>
          <p:cNvSpPr/>
          <p:nvPr/>
        </p:nvSpPr>
        <p:spPr>
          <a:xfrm>
            <a:off x="812800" y="3215639"/>
            <a:ext cx="850265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74D57"/>
                </a:solidFill>
                <a:latin typeface="IBM Plex Sans" pitchFamily="34" charset="0"/>
                <a:ea typeface="IBM Plex Sans" pitchFamily="34" charset="-122"/>
                <a:cs typeface="IBM Plex Sans" pitchFamily="34" charset="-120"/>
              </a:rPr>
              <a:t>Storms hit several divisions at once, when units out of service hurt most. A count-only forecast will miss them; weather forecasts might (hypothesis).</a:t>
            </a:r>
            <a:endParaRPr lang="en-US" sz="1500" dirty="0"/>
          </a:p>
        </p:txBody>
      </p:sp>
      <p:sp>
        <p:nvSpPr>
          <p:cNvPr id="7" name="Text 5"/>
          <p:cNvSpPr/>
          <p:nvPr/>
        </p:nvSpPr>
        <p:spPr>
          <a:xfrm>
            <a:off x="812800" y="4053842"/>
            <a:ext cx="850265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171C"/>
                </a:solidFill>
                <a:latin typeface="IBM Plex Sans Condensed" pitchFamily="34" charset="0"/>
                <a:ea typeface="IBM Plex Sans Condensed" pitchFamily="34" charset="-122"/>
                <a:cs typeface="IBM Plex Sans Condensed" pitchFamily="34" charset="-120"/>
              </a:rPr>
              <a:t>Divisions differ</a:t>
            </a:r>
            <a:endParaRPr lang="en-US" sz="2000" dirty="0"/>
          </a:p>
        </p:txBody>
      </p:sp>
      <p:sp>
        <p:nvSpPr>
          <p:cNvPr id="8" name="Text 6"/>
          <p:cNvSpPr/>
          <p:nvPr/>
        </p:nvSpPr>
        <p:spPr>
          <a:xfrm>
            <a:off x="812800" y="4434842"/>
            <a:ext cx="850265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74D57"/>
                </a:solidFill>
                <a:latin typeface="IBM Plex Sans" pitchFamily="34" charset="0"/>
                <a:ea typeface="IBM Plex Sans" pitchFamily="34" charset="-122"/>
                <a:cs typeface="IBM Plex Sans" pitchFamily="34" charset="-120"/>
              </a:rPr>
              <a:t>Division 6 grew while Divisions 1-5 fell. Splitting a citywide forecast by fixed shares would under-forecast it.</a:t>
            </a:r>
            <a:endParaRPr lang="en-US" sz="1500" dirty="0"/>
          </a:p>
        </p:txBody>
      </p:sp>
      <p:sp>
        <p:nvSpPr>
          <p:cNvPr id="9" name="Text 7"/>
          <p:cNvSpPr/>
          <p:nvPr/>
        </p:nvSpPr>
        <p:spPr>
          <a:xfrm>
            <a:off x="812800" y="6238242"/>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A73"/>
                </a:solidFill>
                <a:latin typeface="IBM Plex Sans" pitchFamily="34" charset="0"/>
                <a:ea typeface="IBM Plex Sans" pitchFamily="34" charset="-122"/>
                <a:cs typeface="IBM Plex Sans" pitchFamily="34" charset="-120"/>
              </a:rPr>
              <a:t>Team 4, SIM interventions EDA</a:t>
            </a:r>
            <a:endParaRPr lang="en-US" sz="1200" dirty="0"/>
          </a:p>
        </p:txBody>
      </p:sp>
      <p:sp>
        <p:nvSpPr>
          <p:cNvPr id="10" name="Text 8"/>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A73"/>
                </a:solidFill>
                <a:latin typeface="IBM Plex Sans" pitchFamily="34" charset="0"/>
                <a:ea typeface="IBM Plex Sans" pitchFamily="34" charset="-122"/>
                <a:cs typeface="IBM Plex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6F7"/>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4171C"/>
                </a:solidFill>
                <a:latin typeface="IBM Plex Sans Condensed" pitchFamily="34" charset="0"/>
                <a:ea typeface="IBM Plex Sans Condensed" pitchFamily="34" charset="-122"/>
                <a:cs typeface="IBM Plex Sans Condensed" pitchFamily="34" charset="-120"/>
              </a:rPr>
              <a:t>What this means for the model</a:t>
            </a:r>
            <a:endParaRPr lang="en-US" sz="3200" dirty="0"/>
          </a:p>
        </p:txBody>
      </p:sp>
      <p:sp>
        <p:nvSpPr>
          <p:cNvPr id="3" name="Text 1"/>
          <p:cNvSpPr/>
          <p:nvPr/>
        </p:nvSpPr>
        <p:spPr>
          <a:xfrm>
            <a:off x="812800" y="1564642"/>
            <a:ext cx="52324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3261E"/>
                </a:solidFill>
                <a:latin typeface="IBM Plex Sans" pitchFamily="34" charset="0"/>
                <a:ea typeface="IBM Plex Sans" pitchFamily="34" charset="-122"/>
                <a:cs typeface="IBM Plex Sans" pitchFamily="34" charset="-120"/>
              </a:rPr>
              <a:t>Build the model</a:t>
            </a:r>
            <a:endParaRPr lang="en-US" sz="1500" dirty="0"/>
          </a:p>
        </p:txBody>
      </p:sp>
      <p:sp>
        <p:nvSpPr>
          <p:cNvPr id="4" name="Shape 2"/>
          <p:cNvSpPr/>
          <p:nvPr/>
        </p:nvSpPr>
        <p:spPr>
          <a:xfrm>
            <a:off x="812800" y="1986917"/>
            <a:ext cx="5080000" cy="0"/>
          </a:xfrm>
          <a:prstGeom prst="line">
            <a:avLst/>
          </a:prstGeom>
          <a:noFill/>
          <a:ln w="6350">
            <a:solidFill>
              <a:srgbClr val="C9CDD3"/>
            </a:solidFill>
            <a:prstDash val="solid"/>
          </a:ln>
        </p:spPr>
      </p:sp>
      <p:sp>
        <p:nvSpPr>
          <p:cNvPr id="5" name="Text 3"/>
          <p:cNvSpPr/>
          <p:nvPr/>
        </p:nvSpPr>
        <p:spPr>
          <a:xfrm>
            <a:off x="812800" y="2091692"/>
            <a:ext cx="52324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71C"/>
                </a:solidFill>
                <a:latin typeface="IBM Plex Sans" pitchFamily="34" charset="0"/>
                <a:ea typeface="IBM Plex Sans" pitchFamily="34" charset="-122"/>
                <a:cs typeface="IBM Plex Sans" pitchFamily="34" charset="-120"/>
              </a:rPr>
              <a:t>Features</a:t>
            </a:r>
            <a:endParaRPr lang="en-US" sz="1200" dirty="0"/>
          </a:p>
        </p:txBody>
      </p:sp>
      <p:sp>
        <p:nvSpPr>
          <p:cNvPr id="6" name="Text 4"/>
          <p:cNvSpPr/>
          <p:nvPr/>
        </p:nvSpPr>
        <p:spPr>
          <a:xfrm>
            <a:off x="812800" y="2343150"/>
            <a:ext cx="523240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Recent levels ending D−3, weekday, month, holidays. No linear trend: it over-predicts after December 2025. Never incident type or vehicles.</a:t>
            </a:r>
            <a:endParaRPr lang="en-US" sz="1200" dirty="0"/>
          </a:p>
        </p:txBody>
      </p:sp>
      <p:sp>
        <p:nvSpPr>
          <p:cNvPr id="7" name="Shape 5"/>
          <p:cNvSpPr/>
          <p:nvPr/>
        </p:nvSpPr>
        <p:spPr>
          <a:xfrm>
            <a:off x="812800" y="2925446"/>
            <a:ext cx="5080000" cy="0"/>
          </a:xfrm>
          <a:prstGeom prst="line">
            <a:avLst/>
          </a:prstGeom>
          <a:noFill/>
          <a:ln w="6350">
            <a:solidFill>
              <a:srgbClr val="C9CDD3"/>
            </a:solidFill>
            <a:prstDash val="solid"/>
          </a:ln>
        </p:spPr>
      </p:sp>
      <p:sp>
        <p:nvSpPr>
          <p:cNvPr id="8" name="Text 6"/>
          <p:cNvSpPr/>
          <p:nvPr/>
        </p:nvSpPr>
        <p:spPr>
          <a:xfrm>
            <a:off x="812800" y="3030221"/>
            <a:ext cx="52324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71C"/>
                </a:solidFill>
                <a:latin typeface="IBM Plex Sans" pitchFamily="34" charset="0"/>
                <a:ea typeface="IBM Plex Sans" pitchFamily="34" charset="-122"/>
                <a:cs typeface="IBM Plex Sans" pitchFamily="34" charset="-120"/>
              </a:rPr>
              <a:t>Structure</a:t>
            </a:r>
            <a:endParaRPr lang="en-US" sz="1200" dirty="0"/>
          </a:p>
        </p:txBody>
      </p:sp>
      <p:sp>
        <p:nvSpPr>
          <p:cNvPr id="9" name="Text 7"/>
          <p:cNvSpPr/>
          <p:nvPr/>
        </p:nvSpPr>
        <p:spPr>
          <a:xfrm>
            <a:off x="812800" y="3281679"/>
            <a:ext cx="523240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One pooled model with a division effect, since most movement is shared. Division 6 gets its own recent-level features.</a:t>
            </a:r>
            <a:endParaRPr lang="en-US" sz="1200" dirty="0"/>
          </a:p>
        </p:txBody>
      </p:sp>
      <p:sp>
        <p:nvSpPr>
          <p:cNvPr id="10" name="Shape 8"/>
          <p:cNvSpPr/>
          <p:nvPr/>
        </p:nvSpPr>
        <p:spPr>
          <a:xfrm>
            <a:off x="812800" y="3863975"/>
            <a:ext cx="5080000" cy="0"/>
          </a:xfrm>
          <a:prstGeom prst="line">
            <a:avLst/>
          </a:prstGeom>
          <a:noFill/>
          <a:ln w="6350">
            <a:solidFill>
              <a:srgbClr val="C9CDD3"/>
            </a:solidFill>
            <a:prstDash val="solid"/>
          </a:ln>
        </p:spPr>
      </p:sp>
      <p:sp>
        <p:nvSpPr>
          <p:cNvPr id="11" name="Text 9"/>
          <p:cNvSpPr/>
          <p:nvPr/>
        </p:nvSpPr>
        <p:spPr>
          <a:xfrm>
            <a:off x="812800" y="3968750"/>
            <a:ext cx="52324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71C"/>
                </a:solidFill>
                <a:latin typeface="IBM Plex Sans" pitchFamily="34" charset="0"/>
                <a:ea typeface="IBM Plex Sans" pitchFamily="34" charset="-122"/>
                <a:cs typeface="IBM Plex Sans" pitchFamily="34" charset="-120"/>
              </a:rPr>
              <a:t>Target and loss</a:t>
            </a:r>
            <a:endParaRPr lang="en-US" sz="1200" dirty="0"/>
          </a:p>
        </p:txBody>
      </p:sp>
      <p:sp>
        <p:nvSpPr>
          <p:cNvPr id="12" name="Text 10"/>
          <p:cNvSpPr/>
          <p:nvPr/>
        </p:nvSpPr>
        <p:spPr>
          <a:xfrm>
            <a:off x="812800" y="4220208"/>
            <a:ext cx="523240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Poisson or Tweedie objective on raw counts, or log1p, chosen on validation MAE and always scored on the original scale.</a:t>
            </a:r>
            <a:endParaRPr lang="en-US" sz="1200" dirty="0"/>
          </a:p>
        </p:txBody>
      </p:sp>
      <p:sp>
        <p:nvSpPr>
          <p:cNvPr id="13" name="Text 11"/>
          <p:cNvSpPr/>
          <p:nvPr/>
        </p:nvSpPr>
        <p:spPr>
          <a:xfrm>
            <a:off x="6299200" y="1564642"/>
            <a:ext cx="52324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3261E"/>
                </a:solidFill>
                <a:latin typeface="IBM Plex Sans" pitchFamily="34" charset="0"/>
                <a:ea typeface="IBM Plex Sans" pitchFamily="34" charset="-122"/>
                <a:cs typeface="IBM Plex Sans" pitchFamily="34" charset="-120"/>
              </a:rPr>
              <a:t>Judge the model</a:t>
            </a:r>
            <a:endParaRPr lang="en-US" sz="1500" dirty="0"/>
          </a:p>
        </p:txBody>
      </p:sp>
      <p:sp>
        <p:nvSpPr>
          <p:cNvPr id="14" name="Shape 12"/>
          <p:cNvSpPr/>
          <p:nvPr/>
        </p:nvSpPr>
        <p:spPr>
          <a:xfrm>
            <a:off x="6299200" y="1986917"/>
            <a:ext cx="5080000" cy="0"/>
          </a:xfrm>
          <a:prstGeom prst="line">
            <a:avLst/>
          </a:prstGeom>
          <a:noFill/>
          <a:ln w="6350">
            <a:solidFill>
              <a:srgbClr val="C9CDD3"/>
            </a:solidFill>
            <a:prstDash val="solid"/>
          </a:ln>
        </p:spPr>
      </p:sp>
      <p:sp>
        <p:nvSpPr>
          <p:cNvPr id="15" name="Text 13"/>
          <p:cNvSpPr/>
          <p:nvPr/>
        </p:nvSpPr>
        <p:spPr>
          <a:xfrm>
            <a:off x="6299200" y="2091692"/>
            <a:ext cx="52324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71C"/>
                </a:solidFill>
                <a:latin typeface="IBM Plex Sans" pitchFamily="34" charset="0"/>
                <a:ea typeface="IBM Plex Sans" pitchFamily="34" charset="-122"/>
                <a:cs typeface="IBM Plex Sans" pitchFamily="34" charset="-120"/>
              </a:rPr>
              <a:t>Split</a:t>
            </a:r>
            <a:endParaRPr lang="en-US" sz="1200" dirty="0"/>
          </a:p>
        </p:txBody>
      </p:sp>
      <p:sp>
        <p:nvSpPr>
          <p:cNvPr id="16" name="Text 14"/>
          <p:cNvSpPr/>
          <p:nvPr/>
        </p:nvSpPr>
        <p:spPr>
          <a:xfrm>
            <a:off x="6299200" y="2343150"/>
            <a:ext cx="523240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Rolling-origin validation on 2021-2024, test on 2025 onward. No k-fold cross-validation: it would train on the future.</a:t>
            </a:r>
            <a:endParaRPr lang="en-US" sz="1200" dirty="0"/>
          </a:p>
        </p:txBody>
      </p:sp>
      <p:sp>
        <p:nvSpPr>
          <p:cNvPr id="17" name="Shape 15"/>
          <p:cNvSpPr/>
          <p:nvPr/>
        </p:nvSpPr>
        <p:spPr>
          <a:xfrm>
            <a:off x="6299200" y="2925446"/>
            <a:ext cx="5080000" cy="0"/>
          </a:xfrm>
          <a:prstGeom prst="line">
            <a:avLst/>
          </a:prstGeom>
          <a:noFill/>
          <a:ln w="6350">
            <a:solidFill>
              <a:srgbClr val="C9CDD3"/>
            </a:solidFill>
            <a:prstDash val="solid"/>
          </a:ln>
        </p:spPr>
      </p:sp>
      <p:sp>
        <p:nvSpPr>
          <p:cNvPr id="18" name="Text 16"/>
          <p:cNvSpPr/>
          <p:nvPr/>
        </p:nvSpPr>
        <p:spPr>
          <a:xfrm>
            <a:off x="6299200" y="3030221"/>
            <a:ext cx="52324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71C"/>
                </a:solidFill>
                <a:latin typeface="IBM Plex Sans" pitchFamily="34" charset="0"/>
                <a:ea typeface="IBM Plex Sans" pitchFamily="34" charset="-122"/>
                <a:cs typeface="IBM Plex Sans" pitchFamily="34" charset="-120"/>
              </a:rPr>
              <a:t>Baselines</a:t>
            </a:r>
            <a:endParaRPr lang="en-US" sz="1200" dirty="0"/>
          </a:p>
        </p:txBody>
      </p:sp>
      <p:sp>
        <p:nvSpPr>
          <p:cNvPr id="19" name="Text 17"/>
          <p:cNvSpPr/>
          <p:nvPr/>
        </p:nvSpPr>
        <p:spPr>
          <a:xfrm>
            <a:off x="6299200" y="3281679"/>
            <a:ext cx="523240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Same-weekday mean, 13 or 26 weeks: MAE 8.16. Plain 28-day mean: MAE 8.03, the harder comparator. We report both.</a:t>
            </a:r>
            <a:endParaRPr lang="en-US" sz="1200" dirty="0"/>
          </a:p>
        </p:txBody>
      </p:sp>
      <p:sp>
        <p:nvSpPr>
          <p:cNvPr id="20" name="Shape 18"/>
          <p:cNvSpPr/>
          <p:nvPr/>
        </p:nvSpPr>
        <p:spPr>
          <a:xfrm>
            <a:off x="6299200" y="3863975"/>
            <a:ext cx="5080000" cy="0"/>
          </a:xfrm>
          <a:prstGeom prst="line">
            <a:avLst/>
          </a:prstGeom>
          <a:noFill/>
          <a:ln w="6350">
            <a:solidFill>
              <a:srgbClr val="C9CDD3"/>
            </a:solidFill>
            <a:prstDash val="solid"/>
          </a:ln>
        </p:spPr>
      </p:sp>
      <p:sp>
        <p:nvSpPr>
          <p:cNvPr id="21" name="Text 19"/>
          <p:cNvSpPr/>
          <p:nvPr/>
        </p:nvSpPr>
        <p:spPr>
          <a:xfrm>
            <a:off x="6299200" y="3968750"/>
            <a:ext cx="52324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71C"/>
                </a:solidFill>
                <a:latin typeface="IBM Plex Sans" pitchFamily="34" charset="0"/>
                <a:ea typeface="IBM Plex Sans" pitchFamily="34" charset="-122"/>
                <a:cs typeface="IBM Plex Sans" pitchFamily="34" charset="-120"/>
              </a:rPr>
              <a:t>Evaluation</a:t>
            </a:r>
            <a:endParaRPr lang="en-US" sz="1200" dirty="0"/>
          </a:p>
        </p:txBody>
      </p:sp>
      <p:sp>
        <p:nvSpPr>
          <p:cNvPr id="22" name="Text 20"/>
          <p:cNvSpPr/>
          <p:nvPr/>
        </p:nvSpPr>
        <p:spPr>
          <a:xfrm>
            <a:off x="6299200" y="4220208"/>
            <a:ext cx="523240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MAE and bias per division and per month, with and without the 134 anomaly days.</a:t>
            </a:r>
            <a:endParaRPr lang="en-US" sz="1200" dirty="0"/>
          </a:p>
        </p:txBody>
      </p:sp>
      <p:sp>
        <p:nvSpPr>
          <p:cNvPr id="23" name="Text 21"/>
          <p:cNvSpPr/>
          <p:nvPr/>
        </p:nvSpPr>
        <p:spPr>
          <a:xfrm>
            <a:off x="812800" y="6238242"/>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A73"/>
                </a:solidFill>
                <a:latin typeface="IBM Plex Sans" pitchFamily="34" charset="0"/>
                <a:ea typeface="IBM Plex Sans" pitchFamily="34" charset="-122"/>
                <a:cs typeface="IBM Plex Sans" pitchFamily="34" charset="-120"/>
              </a:rPr>
              <a:t>Team 4, SIM interventions EDA</a:t>
            </a:r>
            <a:endParaRPr lang="en-US" sz="1200" dirty="0"/>
          </a:p>
        </p:txBody>
      </p:sp>
      <p:sp>
        <p:nvSpPr>
          <p:cNvPr id="24" name="Text 22"/>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A73"/>
                </a:solidFill>
                <a:latin typeface="IBM Plex Sans" pitchFamily="34" charset="0"/>
                <a:ea typeface="IBM Plex Sans" pitchFamily="34" charset="-122"/>
                <a:cs typeface="IBM Plex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7"/>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4171C"/>
                </a:solidFill>
                <a:latin typeface="IBM Plex Sans Condensed" pitchFamily="34" charset="0"/>
                <a:ea typeface="IBM Plex Sans Condensed" pitchFamily="34" charset="-122"/>
                <a:cs typeface="IBM Plex Sans Condensed" pitchFamily="34" charset="-120"/>
              </a:rPr>
              <a:t>Next steps, risks and assumptions</a:t>
            </a:r>
            <a:endParaRPr lang="en-US" sz="3200" dirty="0"/>
          </a:p>
        </p:txBody>
      </p:sp>
      <p:sp>
        <p:nvSpPr>
          <p:cNvPr id="3" name="Text 1"/>
          <p:cNvSpPr/>
          <p:nvPr/>
        </p:nvSpPr>
        <p:spPr>
          <a:xfrm>
            <a:off x="812800" y="1564642"/>
            <a:ext cx="52324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171C"/>
                </a:solidFill>
                <a:latin typeface="IBM Plex Sans" pitchFamily="34" charset="0"/>
                <a:ea typeface="IBM Plex Sans" pitchFamily="34" charset="-122"/>
                <a:cs typeface="IBM Plex Sans" pitchFamily="34" charset="-120"/>
              </a:rPr>
              <a:t>Next steps</a:t>
            </a:r>
            <a:endParaRPr lang="en-US" sz="1500" dirty="0"/>
          </a:p>
        </p:txBody>
      </p:sp>
      <p:sp>
        <p:nvSpPr>
          <p:cNvPr id="4" name="Text 2"/>
          <p:cNvSpPr/>
          <p:nvPr/>
        </p:nvSpPr>
        <p:spPr>
          <a:xfrm>
            <a:off x="855663" y="1932942"/>
            <a:ext cx="5181918" cy="1892300"/>
          </a:xfrm>
          <a:prstGeom prst="rect">
            <a:avLst/>
          </a:prstGeom>
          <a:noFill/>
          <a:ln/>
        </p:spPr>
        <p:txBody>
          <a:bodyPr wrap="square" lIns="0" tIns="0" rIns="0" bIns="0" rtlCol="0" anchor="t">
            <a:normAutofit/>
          </a:bodyPr>
          <a:lstStyle/>
          <a:p>
            <a:pPr algn="l" marL="211138" indent="-211138">
              <a:lnSpc>
                <a:spcPts val="2100"/>
              </a:lnSpc>
              <a:buSzPct val="100000"/>
              <a:buFontTx/>
              <a:buAutoNum type="arabicPeriod" startAt="1"/>
            </a:pPr>
            <a:r>
              <a:rPr lang="en-US" sz="1500" dirty="0">
                <a:solidFill>
                  <a:srgbClr val="474D57"/>
                </a:solidFill>
                <a:latin typeface="IBM Plex Sans" pitchFamily="34" charset="0"/>
                <a:ea typeface="IBM Plex Sans" pitchFamily="34" charset="-122"/>
                <a:cs typeface="IBM Plex Sans" pitchFamily="34" charset="-120"/>
              </a:rPr>
              <a:t>Baseline and rolling-origin validation harness that enforces the D−3 cutoff</a:t>
            </a:r>
            <a:endParaRPr lang="en-US" sz="1500" dirty="0"/>
          </a:p>
          <a:p>
            <a:pPr algn="l" marL="211138" indent="-211138">
              <a:lnSpc>
                <a:spcPts val="2100"/>
              </a:lnSpc>
              <a:buSzPct val="100000"/>
              <a:buFontTx/>
              <a:buAutoNum type="arabicPeriod" startAt="1"/>
            </a:pPr>
            <a:r>
              <a:rPr lang="en-US" sz="1500" dirty="0">
                <a:solidFill>
                  <a:srgbClr val="474D57"/>
                </a:solidFill>
                <a:latin typeface="IBM Plex Sans" pitchFamily="34" charset="0"/>
                <a:ea typeface="IBM Plex Sans" pitchFamily="34" charset="-122"/>
                <a:cs typeface="IBM Plex Sans" pitchFamily="34" charset="-120"/>
              </a:rPr>
              <a:t>Feature pipeline: recent levels, calendar, holidays</a:t>
            </a:r>
            <a:endParaRPr lang="en-US" sz="1500" dirty="0"/>
          </a:p>
          <a:p>
            <a:pPr algn="l" marL="211138" indent="-211138">
              <a:lnSpc>
                <a:spcPts val="2100"/>
              </a:lnSpc>
              <a:buSzPct val="100000"/>
              <a:buFontTx/>
              <a:buAutoNum type="arabicPeriod" startAt="1"/>
            </a:pPr>
            <a:r>
              <a:rPr lang="en-US" sz="1500" dirty="0">
                <a:solidFill>
                  <a:srgbClr val="474D57"/>
                </a:solidFill>
                <a:latin typeface="IBM Plex Sans" pitchFamily="34" charset="0"/>
                <a:ea typeface="IBM Plex Sans" pitchFamily="34" charset="-122"/>
                <a:cs typeface="IBM Plex Sans" pitchFamily="34" charset="-120"/>
              </a:rPr>
              <a:t>Single models: LightGBM, XGBoost, CatBoost and a negative-binomial GLM</a:t>
            </a:r>
            <a:endParaRPr lang="en-US" sz="1500" dirty="0"/>
          </a:p>
          <a:p>
            <a:pPr algn="l" marL="211138" indent="-211138">
              <a:lnSpc>
                <a:spcPts val="2100"/>
              </a:lnSpc>
              <a:buSzPct val="100000"/>
              <a:buFontTx/>
              <a:buAutoNum type="arabicPeriod" startAt="1"/>
            </a:pPr>
            <a:r>
              <a:rPr lang="en-US" sz="1500" dirty="0">
                <a:solidFill>
                  <a:srgbClr val="474D57"/>
                </a:solidFill>
                <a:latin typeface="IBM Plex Sans" pitchFamily="34" charset="0"/>
                <a:ea typeface="IBM Plex Sans" pitchFamily="34" charset="-122"/>
                <a:cs typeface="IBM Plex Sans" pitchFamily="34" charset="-120"/>
              </a:rPr>
              <a:t>Ensemble, compared with both baselines using paired bootstrap intervals</a:t>
            </a:r>
            <a:endParaRPr lang="en-US" sz="1500" dirty="0"/>
          </a:p>
        </p:txBody>
      </p:sp>
      <p:sp>
        <p:nvSpPr>
          <p:cNvPr id="5" name="Text 3"/>
          <p:cNvSpPr/>
          <p:nvPr/>
        </p:nvSpPr>
        <p:spPr>
          <a:xfrm>
            <a:off x="6299200" y="1564642"/>
            <a:ext cx="52324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3261E"/>
                </a:solidFill>
                <a:latin typeface="IBM Plex Sans" pitchFamily="34" charset="0"/>
                <a:ea typeface="IBM Plex Sans" pitchFamily="34" charset="-122"/>
                <a:cs typeface="IBM Plex Sans" pitchFamily="34" charset="-120"/>
              </a:rPr>
              <a:t>Risks and assumptions</a:t>
            </a:r>
            <a:endParaRPr lang="en-US" sz="1500" dirty="0"/>
          </a:p>
        </p:txBody>
      </p:sp>
      <p:sp>
        <p:nvSpPr>
          <p:cNvPr id="6" name="Text 4"/>
          <p:cNvSpPr/>
          <p:nvPr/>
        </p:nvSpPr>
        <p:spPr>
          <a:xfrm>
            <a:off x="6370320" y="1932942"/>
            <a:ext cx="5153660" cy="2441575"/>
          </a:xfrm>
          <a:prstGeom prst="rect">
            <a:avLst/>
          </a:prstGeom>
          <a:noFill/>
          <a:ln/>
        </p:spPr>
        <p:txBody>
          <a:bodyPr wrap="square" lIns="0" tIns="0" rIns="0" bIns="0" rtlCol="0" anchor="t">
            <a:normAutofit/>
          </a:bodyPr>
          <a:lstStyle/>
          <a:p>
            <a:pPr algn="l" marL="182880" indent="-182880">
              <a:lnSpc>
                <a:spcPts val="2100"/>
              </a:lnSpc>
              <a:buSzPct val="100000"/>
              <a:buChar char="•"/>
            </a:pPr>
            <a:r>
              <a:rPr lang="en-US" sz="1500" dirty="0">
                <a:solidFill>
                  <a:srgbClr val="474D57"/>
                </a:solidFill>
                <a:latin typeface="IBM Plex Sans" pitchFamily="34" charset="0"/>
                <a:ea typeface="IBM Plex Sans" pitchFamily="34" charset="-122"/>
                <a:cs typeface="IBM Plex Sans" pitchFamily="34" charset="-120"/>
              </a:rPr>
              <a:t>The late-2025 first-responder drop has no documented cause; a dispatch-protocol change is only a hypothesis</a:t>
            </a:r>
            <a:endParaRPr lang="en-US" sz="1500" dirty="0"/>
          </a:p>
          <a:p>
            <a:pPr algn="l" marL="182880" indent="-182880">
              <a:lnSpc>
                <a:spcPts val="2100"/>
              </a:lnSpc>
              <a:buSzPct val="100000"/>
              <a:buChar char="•"/>
            </a:pPr>
            <a:r>
              <a:rPr lang="en-US" sz="1500" dirty="0">
                <a:solidFill>
                  <a:srgbClr val="474D57"/>
                </a:solidFill>
                <a:latin typeface="IBM Plex Sans" pitchFamily="34" charset="0"/>
                <a:ea typeface="IBM Plex Sans" pitchFamily="34" charset="-122"/>
                <a:cs typeface="IBM Plex Sans" pitchFamily="34" charset="-120"/>
              </a:rPr>
              <a:t>The D−3 cutoff is simulated: the portal keeps no history of publication dates</a:t>
            </a:r>
            <a:endParaRPr lang="en-US" sz="1500" dirty="0"/>
          </a:p>
          <a:p>
            <a:pPr algn="l" marL="182880" indent="-182880">
              <a:lnSpc>
                <a:spcPts val="2100"/>
              </a:lnSpc>
              <a:buSzPct val="100000"/>
              <a:buChar char="•"/>
            </a:pPr>
            <a:r>
              <a:rPr lang="en-US" sz="1500" dirty="0">
                <a:solidFill>
                  <a:srgbClr val="474D57"/>
                </a:solidFill>
                <a:latin typeface="IBM Plex Sans" pitchFamily="34" charset="0"/>
                <a:ea typeface="IBM Plex Sans" pitchFamily="34" charset="-122"/>
                <a:cs typeface="IBM Plex Sans" pitchFamily="34" charset="-120"/>
              </a:rPr>
              <a:t>The open data cover about 94% of SIM activity</a:t>
            </a:r>
            <a:endParaRPr lang="en-US" sz="1500" dirty="0"/>
          </a:p>
          <a:p>
            <a:pPr algn="l" marL="182880" indent="-182880">
              <a:lnSpc>
                <a:spcPts val="2100"/>
              </a:lnSpc>
              <a:buSzPct val="100000"/>
              <a:buChar char="•"/>
            </a:pPr>
            <a:r>
              <a:rPr lang="en-US" sz="1500" dirty="0">
                <a:solidFill>
                  <a:srgbClr val="474D57"/>
                </a:solidFill>
                <a:latin typeface="IBM Plex Sans" pitchFamily="34" charset="0"/>
                <a:ea typeface="IBM Plex Sans" pitchFamily="34" charset="-122"/>
                <a:cs typeface="IBM Plex Sans" pitchFamily="34" charset="-120"/>
              </a:rPr>
              <a:t>Weather drives the surges but is outside the agreed design</a:t>
            </a:r>
            <a:endParaRPr lang="en-US" sz="1500" dirty="0"/>
          </a:p>
          <a:p>
            <a:pPr algn="l" marL="182880" indent="-182880">
              <a:lnSpc>
                <a:spcPts val="2100"/>
              </a:lnSpc>
              <a:buSzPct val="100000"/>
              <a:buChar char="•"/>
            </a:pPr>
            <a:r>
              <a:rPr lang="en-US" sz="1500" dirty="0">
                <a:solidFill>
                  <a:srgbClr val="474D57"/>
                </a:solidFill>
                <a:latin typeface="IBM Plex Sans" pitchFamily="34" charset="0"/>
                <a:ea typeface="IBM Plex Sans" pitchFamily="34" charset="-122"/>
                <a:cs typeface="IBM Plex Sans" pitchFamily="34" charset="-120"/>
              </a:rPr>
              <a:t>Usefulness to SIM planners is unverified without access to SIM</a:t>
            </a:r>
            <a:endParaRPr lang="en-US" sz="1500" dirty="0"/>
          </a:p>
        </p:txBody>
      </p:sp>
      <p:sp>
        <p:nvSpPr>
          <p:cNvPr id="7" name="Text 5"/>
          <p:cNvSpPr/>
          <p:nvPr/>
        </p:nvSpPr>
        <p:spPr>
          <a:xfrm>
            <a:off x="812800" y="6238242"/>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A73"/>
                </a:solidFill>
                <a:latin typeface="IBM Plex Sans" pitchFamily="34" charset="0"/>
                <a:ea typeface="IBM Plex Sans" pitchFamily="34" charset="-122"/>
                <a:cs typeface="IBM Plex Sans" pitchFamily="34" charset="-120"/>
              </a:rPr>
              <a:t>Team 4, SIM interventions EDA</a:t>
            </a:r>
            <a:endParaRPr lang="en-US" sz="1200" dirty="0"/>
          </a:p>
        </p:txBody>
      </p:sp>
      <p:sp>
        <p:nvSpPr>
          <p:cNvPr id="8" name="Text 6"/>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A73"/>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6F7"/>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4171C"/>
                </a:solidFill>
                <a:latin typeface="IBM Plex Sans Condensed" pitchFamily="34" charset="0"/>
                <a:ea typeface="IBM Plex Sans Condensed" pitchFamily="34" charset="-122"/>
                <a:cs typeface="IBM Plex Sans Condensed" pitchFamily="34" charset="-120"/>
              </a:rPr>
              <a:t>Backup: 2024 baseline preview by division</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26542"/>
          <a:ext cx="10553700" cy="2994660"/>
        </p:xfrm>
        <a:graphic>
          <a:graphicData uri="http://schemas.openxmlformats.org/drawingml/2006/table">
            <a:tbl>
              <a:tblPr/>
              <a:tblGrid>
                <a:gridCol w="1371981"/>
                <a:gridCol w="1055370"/>
                <a:gridCol w="1055370"/>
                <a:gridCol w="1055370"/>
                <a:gridCol w="1055370"/>
                <a:gridCol w="1055370"/>
                <a:gridCol w="1583055"/>
                <a:gridCol w="2321814"/>
              </a:tblGrid>
              <a:tr h="332740">
                <a:tc>
                  <a:txBody>
                    <a:bodyPr/>
                    <a:lstStyle/>
                    <a:p>
                      <a:pPr indent="0" marL="0">
                        <a:lnSpc>
                          <a:spcPts val="1680"/>
                        </a:lnSpc>
                        <a:buNone/>
                      </a:pPr>
                      <a:r>
                        <a:rPr lang="en-US" sz="1200" b="1" dirty="0">
                          <a:solidFill>
                            <a:srgbClr val="14171C"/>
                          </a:solidFill>
                          <a:latin typeface="IBM Plex Sans" pitchFamily="34" charset="0"/>
                          <a:ea typeface="IBM Plex Sans" pitchFamily="34" charset="-122"/>
                          <a:cs typeface="IBM Plex Sans" pitchFamily="34" charset="-120"/>
                        </a:rPr>
                        <a:t>Division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B9BCBE"/>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B9BCBE"/>
                      </a:solidFill>
                      <a:prstDash val="solid"/>
                      <a:round/>
                      <a:headEnd type="none" w="med" len="med"/>
                      <a:tailEnd type="none" w="med" len="med"/>
                    </a:lnB>
                    <a:solidFill>
                      <a:srgbClr val="E8EBEE"/>
                    </a:solidFill>
                  </a:tcPr>
                </a:tc>
                <a:tc>
                  <a:txBody>
                    <a:bodyPr/>
                    <a:lstStyle/>
                    <a:p>
                      <a:pPr algn="r" indent="0" marL="0">
                        <a:lnSpc>
                          <a:spcPts val="1680"/>
                        </a:lnSpc>
                        <a:buNone/>
                      </a:pPr>
                      <a:r>
                        <a:rPr lang="en-US" sz="1200" b="1" dirty="0">
                          <a:solidFill>
                            <a:srgbClr val="14171C"/>
                          </a:solidFill>
                          <a:latin typeface="IBM Plex Sans" pitchFamily="34" charset="0"/>
                          <a:ea typeface="IBM Plex Sans" pitchFamily="34" charset="-122"/>
                          <a:cs typeface="IBM Plex Sans" pitchFamily="34" charset="-120"/>
                        </a:rPr>
                        <a:t>4 wk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CBE"/>
                      </a:solidFill>
                      <a:prstDash val="solid"/>
                      <a:round/>
                      <a:headEnd type="none" w="med" len="med"/>
                      <a:tailEnd type="none" w="med" len="med"/>
                    </a:lnL>
                    <a:lnR w="12700" cap="flat" cmpd="sng" algn="ctr">
                      <a:solidFill>
                        <a:srgbClr val="B9BCBE"/>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B9BCBE"/>
                      </a:solidFill>
                      <a:prstDash val="solid"/>
                      <a:round/>
                      <a:headEnd type="none" w="med" len="med"/>
                      <a:tailEnd type="none" w="med" len="med"/>
                    </a:lnB>
                    <a:solidFill>
                      <a:srgbClr val="E8EBEE"/>
                    </a:solidFill>
                  </a:tcPr>
                </a:tc>
                <a:tc>
                  <a:txBody>
                    <a:bodyPr/>
                    <a:lstStyle/>
                    <a:p>
                      <a:pPr algn="r" indent="0" marL="0">
                        <a:lnSpc>
                          <a:spcPts val="1680"/>
                        </a:lnSpc>
                        <a:buNone/>
                      </a:pPr>
                      <a:r>
                        <a:rPr lang="en-US" sz="1200" b="1" dirty="0">
                          <a:solidFill>
                            <a:srgbClr val="14171C"/>
                          </a:solidFill>
                          <a:latin typeface="IBM Plex Sans" pitchFamily="34" charset="0"/>
                          <a:ea typeface="IBM Plex Sans" pitchFamily="34" charset="-122"/>
                          <a:cs typeface="IBM Plex Sans" pitchFamily="34" charset="-120"/>
                        </a:rPr>
                        <a:t>8 wk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CBE"/>
                      </a:solidFill>
                      <a:prstDash val="solid"/>
                      <a:round/>
                      <a:headEnd type="none" w="med" len="med"/>
                      <a:tailEnd type="none" w="med" len="med"/>
                    </a:lnL>
                    <a:lnR w="12700" cap="flat" cmpd="sng" algn="ctr">
                      <a:solidFill>
                        <a:srgbClr val="B9BCBE"/>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B9BCBE"/>
                      </a:solidFill>
                      <a:prstDash val="solid"/>
                      <a:round/>
                      <a:headEnd type="none" w="med" len="med"/>
                      <a:tailEnd type="none" w="med" len="med"/>
                    </a:lnB>
                    <a:solidFill>
                      <a:srgbClr val="E8EBEE"/>
                    </a:solidFill>
                  </a:tcPr>
                </a:tc>
                <a:tc>
                  <a:txBody>
                    <a:bodyPr/>
                    <a:lstStyle/>
                    <a:p>
                      <a:pPr algn="r" indent="0" marL="0">
                        <a:lnSpc>
                          <a:spcPts val="1680"/>
                        </a:lnSpc>
                        <a:buNone/>
                      </a:pPr>
                      <a:r>
                        <a:rPr lang="en-US" sz="1200" b="1" dirty="0">
                          <a:solidFill>
                            <a:srgbClr val="14171C"/>
                          </a:solidFill>
                          <a:latin typeface="IBM Plex Sans" pitchFamily="34" charset="0"/>
                          <a:ea typeface="IBM Plex Sans" pitchFamily="34" charset="-122"/>
                          <a:cs typeface="IBM Plex Sans" pitchFamily="34" charset="-120"/>
                        </a:rPr>
                        <a:t>13 wk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CBE"/>
                      </a:solidFill>
                      <a:prstDash val="solid"/>
                      <a:round/>
                      <a:headEnd type="none" w="med" len="med"/>
                      <a:tailEnd type="none" w="med" len="med"/>
                    </a:lnL>
                    <a:lnR w="12700" cap="flat" cmpd="sng" algn="ctr">
                      <a:solidFill>
                        <a:srgbClr val="B9BCBE"/>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B9BCBE"/>
                      </a:solidFill>
                      <a:prstDash val="solid"/>
                      <a:round/>
                      <a:headEnd type="none" w="med" len="med"/>
                      <a:tailEnd type="none" w="med" len="med"/>
                    </a:lnB>
                    <a:solidFill>
                      <a:srgbClr val="E8EBEE"/>
                    </a:solidFill>
                  </a:tcPr>
                </a:tc>
                <a:tc>
                  <a:txBody>
                    <a:bodyPr/>
                    <a:lstStyle/>
                    <a:p>
                      <a:pPr algn="r" indent="0" marL="0">
                        <a:lnSpc>
                          <a:spcPts val="1680"/>
                        </a:lnSpc>
                        <a:buNone/>
                      </a:pPr>
                      <a:r>
                        <a:rPr lang="en-US" sz="1200" b="1" dirty="0">
                          <a:solidFill>
                            <a:srgbClr val="14171C"/>
                          </a:solidFill>
                          <a:latin typeface="IBM Plex Sans" pitchFamily="34" charset="0"/>
                          <a:ea typeface="IBM Plex Sans" pitchFamily="34" charset="-122"/>
                          <a:cs typeface="IBM Plex Sans" pitchFamily="34" charset="-120"/>
                        </a:rPr>
                        <a:t>26 wk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CBE"/>
                      </a:solidFill>
                      <a:prstDash val="solid"/>
                      <a:round/>
                      <a:headEnd type="none" w="med" len="med"/>
                      <a:tailEnd type="none" w="med" len="med"/>
                    </a:lnL>
                    <a:lnR w="12700" cap="flat" cmpd="sng" algn="ctr">
                      <a:solidFill>
                        <a:srgbClr val="B9BCBE"/>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B9BCBE"/>
                      </a:solidFill>
                      <a:prstDash val="solid"/>
                      <a:round/>
                      <a:headEnd type="none" w="med" len="med"/>
                      <a:tailEnd type="none" w="med" len="med"/>
                    </a:lnB>
                    <a:solidFill>
                      <a:srgbClr val="E8EBEE"/>
                    </a:solidFill>
                  </a:tcPr>
                </a:tc>
                <a:tc>
                  <a:txBody>
                    <a:bodyPr/>
                    <a:lstStyle/>
                    <a:p>
                      <a:pPr algn="r" indent="0" marL="0">
                        <a:lnSpc>
                          <a:spcPts val="1680"/>
                        </a:lnSpc>
                        <a:buNone/>
                      </a:pPr>
                      <a:r>
                        <a:rPr lang="en-US" sz="1200" b="1" dirty="0">
                          <a:solidFill>
                            <a:srgbClr val="14171C"/>
                          </a:solidFill>
                          <a:latin typeface="IBM Plex Sans" pitchFamily="34" charset="0"/>
                          <a:ea typeface="IBM Plex Sans" pitchFamily="34" charset="-122"/>
                          <a:cs typeface="IBM Plex Sans" pitchFamily="34" charset="-120"/>
                        </a:rPr>
                        <a:t>52 wk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CBE"/>
                      </a:solidFill>
                      <a:prstDash val="solid"/>
                      <a:round/>
                      <a:headEnd type="none" w="med" len="med"/>
                      <a:tailEnd type="none" w="med" len="med"/>
                    </a:lnL>
                    <a:lnR w="12700" cap="flat" cmpd="sng" algn="ctr">
                      <a:solidFill>
                        <a:srgbClr val="B9BCBE"/>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B9BCBE"/>
                      </a:solidFill>
                      <a:prstDash val="solid"/>
                      <a:round/>
                      <a:headEnd type="none" w="med" len="med"/>
                      <a:tailEnd type="none" w="med" len="med"/>
                    </a:lnB>
                    <a:solidFill>
                      <a:srgbClr val="E8EBEE"/>
                    </a:solidFill>
                  </a:tcPr>
                </a:tc>
                <a:tc>
                  <a:txBody>
                    <a:bodyPr/>
                    <a:lstStyle/>
                    <a:p>
                      <a:pPr algn="r" indent="0" marL="0">
                        <a:lnSpc>
                          <a:spcPts val="1680"/>
                        </a:lnSpc>
                        <a:buNone/>
                      </a:pPr>
                      <a:r>
                        <a:rPr lang="en-US" sz="1200" b="1" dirty="0">
                          <a:solidFill>
                            <a:srgbClr val="14171C"/>
                          </a:solidFill>
                          <a:latin typeface="IBM Plex Sans" pitchFamily="34" charset="0"/>
                          <a:ea typeface="IBM Plex Sans" pitchFamily="34" charset="-122"/>
                          <a:cs typeface="IBM Plex Sans" pitchFamily="34" charset="-120"/>
                        </a:rPr>
                        <a:t>Plain 28-day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CBE"/>
                      </a:solidFill>
                      <a:prstDash val="solid"/>
                      <a:round/>
                      <a:headEnd type="none" w="med" len="med"/>
                      <a:tailEnd type="none" w="med" len="med"/>
                    </a:lnL>
                    <a:lnR w="12700" cap="flat" cmpd="sng" algn="ctr">
                      <a:solidFill>
                        <a:srgbClr val="B9BCBE"/>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B9BCBE"/>
                      </a:solidFill>
                      <a:prstDash val="solid"/>
                      <a:round/>
                      <a:headEnd type="none" w="med" len="med"/>
                      <a:tailEnd type="none" w="med" len="med"/>
                    </a:lnB>
                    <a:solidFill>
                      <a:srgbClr val="E8EBEE"/>
                    </a:solidFill>
                  </a:tcPr>
                </a:tc>
                <a:tc>
                  <a:txBody>
                    <a:bodyPr/>
                    <a:lstStyle/>
                    <a:p>
                      <a:pPr indent="0" marL="0">
                        <a:lnSpc>
                          <a:spcPts val="1680"/>
                        </a:lnSpc>
                        <a:buNone/>
                      </a:pPr>
                      <a:r>
                        <a:rPr lang="en-US" sz="1200" b="1" dirty="0">
                          <a:solidFill>
                            <a:srgbClr val="14171C"/>
                          </a:solidFill>
                          <a:latin typeface="IBM Plex Sans" pitchFamily="34" charset="0"/>
                          <a:ea typeface="IBM Plex Sans" pitchFamily="34" charset="-122"/>
                          <a:cs typeface="IBM Plex Sans" pitchFamily="34" charset="-120"/>
                        </a:rPr>
                        <a:t>Best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CBE"/>
                      </a:solidFill>
                      <a:prstDash val="solid"/>
                      <a:round/>
                      <a:headEnd type="none" w="med" len="med"/>
                      <a:tailEnd type="none" w="med" len="med"/>
                    </a:lnL>
                    <a:lnR w="12700" cap="flat" cmpd="sng" algn="ctr">
                      <a:solidFill>
                        <a:srgbClr val="B9BCBE"/>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B9BCBE"/>
                      </a:solidFill>
                      <a:prstDash val="solid"/>
                      <a:round/>
                      <a:headEnd type="none" w="med" len="med"/>
                      <a:tailEnd type="none" w="med" len="med"/>
                    </a:lnB>
                    <a:solidFill>
                      <a:srgbClr val="E8EBEE"/>
                    </a:solidFill>
                  </a:tcPr>
                </a:tc>
              </a:tr>
              <a:tr h="332740">
                <a:tc>
                  <a:txBody>
                    <a:bodyPr/>
                    <a:lstStyle/>
                    <a:p>
                      <a:pP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B9BCBE"/>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6.58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B9BCBE"/>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6.01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B9BCBE"/>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5.94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B9BCBE"/>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6.01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B9BCBE"/>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6.23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B9BCBE"/>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5.92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B9BCBE"/>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Plain 28-day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B9BCBE"/>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r>
              <a:tr h="332740">
                <a:tc>
                  <a:txBody>
                    <a:bodyPr/>
                    <a:lstStyle/>
                    <a:p>
                      <a:pP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8.85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8.42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8.27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8.21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8.43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8.04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Plain 28-day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r>
              <a:tr h="332740">
                <a:tc>
                  <a:txBody>
                    <a:bodyPr/>
                    <a:lstStyle/>
                    <a:p>
                      <a:pP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11.05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10.05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9.95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9.61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9.81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9.73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26 wk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r>
              <a:tr h="332740">
                <a:tc>
                  <a:txBody>
                    <a:bodyPr/>
                    <a:lstStyle/>
                    <a:p>
                      <a:pP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9.08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8.31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8.21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8.17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8.25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7.88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Plain 28-day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r>
              <a:tr h="332740">
                <a:tc>
                  <a:txBody>
                    <a:bodyPr/>
                    <a:lstStyle/>
                    <a:p>
                      <a:pP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9.54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8.89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8.66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8.81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8.95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8.67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13 wk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r>
              <a:tr h="332740">
                <a:tc>
                  <a:txBody>
                    <a:bodyPr/>
                    <a:lstStyle/>
                    <a:p>
                      <a:pP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8.23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7.91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7.93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8.12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8.13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7.91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8 wk and plain (tie)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r>
              <a:tr h="332740">
                <a:tc>
                  <a:txBody>
                    <a:bodyPr/>
                    <a:lstStyle/>
                    <a:p>
                      <a:pP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All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B9BCBE"/>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B9BCBE"/>
                      </a:solidFill>
                      <a:prstDash val="solid"/>
                      <a:round/>
                      <a:headEnd type="none" w="med" len="med"/>
                      <a:tailEnd type="none" w="med" len="med"/>
                    </a:lnB>
                    <a:solidFill>
                      <a:srgbClr val="E8EBEE"/>
                    </a:solidFill>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8.89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CBE"/>
                      </a:solidFill>
                      <a:prstDash val="solid"/>
                      <a:round/>
                      <a:headEnd type="none" w="med" len="med"/>
                      <a:tailEnd type="none" w="med" len="med"/>
                    </a:lnL>
                    <a:lnR w="12700" cap="flat" cmpd="sng" algn="ctr">
                      <a:solidFill>
                        <a:srgbClr val="B9BCBE"/>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B9BCBE"/>
                      </a:solidFill>
                      <a:prstDash val="solid"/>
                      <a:round/>
                      <a:headEnd type="none" w="med" len="med"/>
                      <a:tailEnd type="none" w="med" len="med"/>
                    </a:lnB>
                    <a:solidFill>
                      <a:srgbClr val="E8EBEE"/>
                    </a:solidFill>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8.26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CBE"/>
                      </a:solidFill>
                      <a:prstDash val="solid"/>
                      <a:round/>
                      <a:headEnd type="none" w="med" len="med"/>
                      <a:tailEnd type="none" w="med" len="med"/>
                    </a:lnL>
                    <a:lnR w="12700" cap="flat" cmpd="sng" algn="ctr">
                      <a:solidFill>
                        <a:srgbClr val="B9BCBE"/>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B9BCBE"/>
                      </a:solidFill>
                      <a:prstDash val="solid"/>
                      <a:round/>
                      <a:headEnd type="none" w="med" len="med"/>
                      <a:tailEnd type="none" w="med" len="med"/>
                    </a:lnB>
                    <a:solidFill>
                      <a:srgbClr val="E8EBEE"/>
                    </a:solidFill>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8.16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CBE"/>
                      </a:solidFill>
                      <a:prstDash val="solid"/>
                      <a:round/>
                      <a:headEnd type="none" w="med" len="med"/>
                      <a:tailEnd type="none" w="med" len="med"/>
                    </a:lnL>
                    <a:lnR w="12700" cap="flat" cmpd="sng" algn="ctr">
                      <a:solidFill>
                        <a:srgbClr val="B9BCBE"/>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B9BCBE"/>
                      </a:solidFill>
                      <a:prstDash val="solid"/>
                      <a:round/>
                      <a:headEnd type="none" w="med" len="med"/>
                      <a:tailEnd type="none" w="med" len="med"/>
                    </a:lnB>
                    <a:solidFill>
                      <a:srgbClr val="E8EBEE"/>
                    </a:solidFill>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8.16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CBE"/>
                      </a:solidFill>
                      <a:prstDash val="solid"/>
                      <a:round/>
                      <a:headEnd type="none" w="med" len="med"/>
                      <a:tailEnd type="none" w="med" len="med"/>
                    </a:lnL>
                    <a:lnR w="12700" cap="flat" cmpd="sng" algn="ctr">
                      <a:solidFill>
                        <a:srgbClr val="B9BCBE"/>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B9BCBE"/>
                      </a:solidFill>
                      <a:prstDash val="solid"/>
                      <a:round/>
                      <a:headEnd type="none" w="med" len="med"/>
                      <a:tailEnd type="none" w="med" len="med"/>
                    </a:lnB>
                    <a:solidFill>
                      <a:srgbClr val="E8EBEE"/>
                    </a:solidFill>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8.30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CBE"/>
                      </a:solidFill>
                      <a:prstDash val="solid"/>
                      <a:round/>
                      <a:headEnd type="none" w="med" len="med"/>
                      <a:tailEnd type="none" w="med" len="med"/>
                    </a:lnL>
                    <a:lnR w="12700" cap="flat" cmpd="sng" algn="ctr">
                      <a:solidFill>
                        <a:srgbClr val="B9BCBE"/>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B9BCBE"/>
                      </a:solidFill>
                      <a:prstDash val="solid"/>
                      <a:round/>
                      <a:headEnd type="none" w="med" len="med"/>
                      <a:tailEnd type="none" w="med" len="med"/>
                    </a:lnB>
                    <a:solidFill>
                      <a:srgbClr val="E8EBEE"/>
                    </a:solidFill>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8.03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CBE"/>
                      </a:solidFill>
                      <a:prstDash val="solid"/>
                      <a:round/>
                      <a:headEnd type="none" w="med" len="med"/>
                      <a:tailEnd type="none" w="med" len="med"/>
                    </a:lnL>
                    <a:lnR w="12700" cap="flat" cmpd="sng" algn="ctr">
                      <a:solidFill>
                        <a:srgbClr val="B9BCBE"/>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B9BCBE"/>
                      </a:solidFill>
                      <a:prstDash val="solid"/>
                      <a:round/>
                      <a:headEnd type="none" w="med" len="med"/>
                      <a:tailEnd type="none" w="med" len="med"/>
                    </a:lnB>
                    <a:solidFill>
                      <a:srgbClr val="E8EBEE"/>
                    </a:solidFill>
                  </a:tcPr>
                </a:tc>
                <a:tc>
                  <a:txBody>
                    <a:bodyPr/>
                    <a:lstStyle/>
                    <a:p>
                      <a:pP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Plain 28-day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CBE"/>
                      </a:solidFill>
                      <a:prstDash val="solid"/>
                      <a:round/>
                      <a:headEnd type="none" w="med" len="med"/>
                      <a:tailEnd type="none" w="med" len="med"/>
                    </a:lnL>
                    <a:lnR w="12700" cap="flat" cmpd="sng" algn="ctr">
                      <a:solidFill>
                        <a:srgbClr val="B9BCBE"/>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B9BCBE"/>
                      </a:solidFill>
                      <a:prstDash val="solid"/>
                      <a:round/>
                      <a:headEnd type="none" w="med" len="med"/>
                      <a:tailEnd type="none" w="med" len="med"/>
                    </a:lnB>
                    <a:solidFill>
                      <a:srgbClr val="E8EBEE"/>
                    </a:solidFill>
                  </a:tcPr>
                </a:tc>
              </a:tr>
              <a:tr h="332740">
                <a:tc>
                  <a:txBody>
                    <a:bodyPr/>
                    <a:lstStyle/>
                    <a:p>
                      <a:pP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Bias, all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B9BCBE"/>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−0.17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B9BCBE"/>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−0.22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B9BCBE"/>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−0.39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B9BCBE"/>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−0.69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B9BCBE"/>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−0.63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B9BCBE"/>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−0.18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B9BCBE"/>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B9BCBE"/>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r>
            </a:tbl>
          </a:graphicData>
        </a:graphic>
      </p:graphicFrame>
      <p:sp>
        <p:nvSpPr>
          <p:cNvPr id="4" name="Text 1"/>
          <p:cNvSpPr/>
          <p:nvPr/>
        </p:nvSpPr>
        <p:spPr>
          <a:xfrm>
            <a:off x="812800" y="4775200"/>
            <a:ext cx="915670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MAE in interventions a day on the 2024 validation year. The week columns are same-weekday means over that many weeks. Every forecast uses only data up to D−3; the 2025 test period was not touched. A feasibility check, not the final window choice.</a:t>
            </a:r>
            <a:endParaRPr lang="en-US" sz="1200" dirty="0"/>
          </a:p>
        </p:txBody>
      </p:sp>
      <p:sp>
        <p:nvSpPr>
          <p:cNvPr id="5" name="Text 2"/>
          <p:cNvSpPr/>
          <p:nvPr/>
        </p:nvSpPr>
        <p:spPr>
          <a:xfrm>
            <a:off x="812800" y="6238242"/>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A73"/>
                </a:solidFill>
                <a:latin typeface="IBM Plex Sans" pitchFamily="34" charset="0"/>
                <a:ea typeface="IBM Plex Sans" pitchFamily="34" charset="-122"/>
                <a:cs typeface="IBM Plex Sans" pitchFamily="34" charset="-120"/>
              </a:rPr>
              <a:t>Team 4, SIM interventions EDA</a:t>
            </a:r>
            <a:endParaRPr lang="en-US" sz="1200" dirty="0"/>
          </a:p>
        </p:txBody>
      </p:sp>
      <p:sp>
        <p:nvSpPr>
          <p:cNvPr id="6" name="Text 3"/>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A73"/>
                </a:solidFill>
                <a:latin typeface="IBM Plex Sans" pitchFamily="34" charset="0"/>
                <a:ea typeface="IBM Plex Sans" pitchFamily="34" charset="-122"/>
                <a:cs typeface="IBM Plex Sans" pitchFamily="34" charset="-120"/>
              </a:rPr>
              <a:t>B1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6F7"/>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4171C"/>
                </a:solidFill>
                <a:latin typeface="IBM Plex Sans Condensed" pitchFamily="34" charset="0"/>
                <a:ea typeface="IBM Plex Sans Condensed" pitchFamily="34" charset="-122"/>
                <a:cs typeface="IBM Plex Sans Condensed" pitchFamily="34" charset="-120"/>
              </a:rPr>
              <a:t>Backup: days anomalous in 3 or more divisions</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26542"/>
          <a:ext cx="5067300" cy="2994660"/>
        </p:xfrm>
        <a:graphic>
          <a:graphicData uri="http://schemas.openxmlformats.org/drawingml/2006/table">
            <a:tbl>
              <a:tblPr/>
              <a:tblGrid>
                <a:gridCol w="1621536"/>
                <a:gridCol w="912114"/>
                <a:gridCol w="1266825"/>
                <a:gridCol w="1266825"/>
              </a:tblGrid>
              <a:tr h="332740">
                <a:tc>
                  <a:txBody>
                    <a:bodyPr/>
                    <a:lstStyle/>
                    <a:p>
                      <a:pPr indent="0" marL="0">
                        <a:lnSpc>
                          <a:spcPts val="1680"/>
                        </a:lnSpc>
                        <a:buNone/>
                      </a:pPr>
                      <a:r>
                        <a:rPr lang="en-US" sz="1200" b="1" dirty="0">
                          <a:solidFill>
                            <a:srgbClr val="14171C"/>
                          </a:solidFill>
                          <a:latin typeface="IBM Plex Sans" pitchFamily="34" charset="0"/>
                          <a:ea typeface="IBM Plex Sans" pitchFamily="34" charset="-122"/>
                          <a:cs typeface="IBM Plex Sans" pitchFamily="34" charset="-120"/>
                        </a:rPr>
                        <a:t>Date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B9BCBE"/>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B9BCBE"/>
                      </a:solidFill>
                      <a:prstDash val="solid"/>
                      <a:round/>
                      <a:headEnd type="none" w="med" len="med"/>
                      <a:tailEnd type="none" w="med" len="med"/>
                    </a:lnB>
                    <a:solidFill>
                      <a:srgbClr val="E8EBEE"/>
                    </a:solidFill>
                  </a:tcPr>
                </a:tc>
                <a:tc>
                  <a:txBody>
                    <a:bodyPr/>
                    <a:lstStyle/>
                    <a:p>
                      <a:pPr algn="r" indent="0" marL="0">
                        <a:lnSpc>
                          <a:spcPts val="1680"/>
                        </a:lnSpc>
                        <a:buNone/>
                      </a:pPr>
                      <a:r>
                        <a:rPr lang="en-US" sz="1200" b="1" dirty="0">
                          <a:solidFill>
                            <a:srgbClr val="14171C"/>
                          </a:solidFill>
                          <a:latin typeface="IBM Plex Sans" pitchFamily="34" charset="0"/>
                          <a:ea typeface="IBM Plex Sans" pitchFamily="34" charset="-122"/>
                          <a:cs typeface="IBM Plex Sans" pitchFamily="34" charset="-120"/>
                        </a:rPr>
                        <a:t>Divisions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CBE"/>
                      </a:solidFill>
                      <a:prstDash val="solid"/>
                      <a:round/>
                      <a:headEnd type="none" w="med" len="med"/>
                      <a:tailEnd type="none" w="med" len="med"/>
                    </a:lnL>
                    <a:lnR w="12700" cap="flat" cmpd="sng" algn="ctr">
                      <a:solidFill>
                        <a:srgbClr val="B9BCBE"/>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B9BCBE"/>
                      </a:solidFill>
                      <a:prstDash val="solid"/>
                      <a:round/>
                      <a:headEnd type="none" w="med" len="med"/>
                      <a:tailEnd type="none" w="med" len="med"/>
                    </a:lnB>
                    <a:solidFill>
                      <a:srgbClr val="E8EBEE"/>
                    </a:solidFill>
                  </a:tcPr>
                </a:tc>
                <a:tc>
                  <a:txBody>
                    <a:bodyPr/>
                    <a:lstStyle/>
                    <a:p>
                      <a:pPr algn="r" indent="0" marL="0">
                        <a:lnSpc>
                          <a:spcPts val="1680"/>
                        </a:lnSpc>
                        <a:buNone/>
                      </a:pPr>
                      <a:r>
                        <a:rPr lang="en-US" sz="1200" b="1" dirty="0">
                          <a:solidFill>
                            <a:srgbClr val="14171C"/>
                          </a:solidFill>
                          <a:latin typeface="IBM Plex Sans" pitchFamily="34" charset="0"/>
                          <a:ea typeface="IBM Plex Sans" pitchFamily="34" charset="-122"/>
                          <a:cs typeface="IBM Plex Sans" pitchFamily="34" charset="-120"/>
                        </a:rPr>
                        <a:t>Citywide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CBE"/>
                      </a:solidFill>
                      <a:prstDash val="solid"/>
                      <a:round/>
                      <a:headEnd type="none" w="med" len="med"/>
                      <a:tailEnd type="none" w="med" len="med"/>
                    </a:lnL>
                    <a:lnR w="12700" cap="flat" cmpd="sng" algn="ctr">
                      <a:solidFill>
                        <a:srgbClr val="B9BCBE"/>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B9BCBE"/>
                      </a:solidFill>
                      <a:prstDash val="solid"/>
                      <a:round/>
                      <a:headEnd type="none" w="med" len="med"/>
                      <a:tailEnd type="none" w="med" len="med"/>
                    </a:lnB>
                    <a:solidFill>
                      <a:srgbClr val="E8EBEE"/>
                    </a:solidFill>
                  </a:tcPr>
                </a:tc>
                <a:tc>
                  <a:txBody>
                    <a:bodyPr/>
                    <a:lstStyle/>
                    <a:p>
                      <a:pPr algn="r" indent="0" marL="0">
                        <a:lnSpc>
                          <a:spcPts val="1680"/>
                        </a:lnSpc>
                        <a:buNone/>
                      </a:pPr>
                      <a:r>
                        <a:rPr lang="en-US" sz="1200" b="1" dirty="0">
                          <a:solidFill>
                            <a:srgbClr val="14171C"/>
                          </a:solidFill>
                          <a:latin typeface="IBM Plex Sans" pitchFamily="34" charset="0"/>
                          <a:ea typeface="IBM Plex Sans" pitchFamily="34" charset="-122"/>
                          <a:cs typeface="IBM Plex Sans" pitchFamily="34" charset="-120"/>
                        </a:rPr>
                        <a:t>Non-medical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CBE"/>
                      </a:solidFill>
                      <a:prstDash val="solid"/>
                      <a:round/>
                      <a:headEnd type="none" w="med" len="med"/>
                      <a:tailEnd type="none" w="med" len="med"/>
                    </a:lnL>
                    <a:lnR w="12700" cap="flat" cmpd="sng" algn="ctr">
                      <a:solidFill>
                        <a:srgbClr val="B9BCBE"/>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B9BCBE"/>
                      </a:solidFill>
                      <a:prstDash val="solid"/>
                      <a:round/>
                      <a:headEnd type="none" w="med" len="med"/>
                      <a:tailEnd type="none" w="med" len="med"/>
                    </a:lnB>
                    <a:solidFill>
                      <a:srgbClr val="E8EBEE"/>
                    </a:solidFill>
                  </a:tcPr>
                </a:tc>
              </a:tr>
              <a:tr h="332740">
                <a:tc>
                  <a:txBody>
                    <a:bodyPr/>
                    <a:lstStyle/>
                    <a:p>
                      <a:pP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2023-04-06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B9BCBE"/>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B9BCBE"/>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1,712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B9BCBE"/>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72.6%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B9BCBE"/>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r>
              <a:tr h="332740">
                <a:tc>
                  <a:txBody>
                    <a:bodyPr/>
                    <a:lstStyle/>
                    <a:p>
                      <a:pP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2024-04-04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736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53.8%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r>
              <a:tr h="332740">
                <a:tc>
                  <a:txBody>
                    <a:bodyPr/>
                    <a:lstStyle/>
                    <a:p>
                      <a:pP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2021-12-11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550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54.0%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r>
              <a:tr h="332740">
                <a:tc>
                  <a:txBody>
                    <a:bodyPr/>
                    <a:lstStyle/>
                    <a:p>
                      <a:pP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2023-02-04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697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41.9%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r>
              <a:tr h="332740">
                <a:tc>
                  <a:txBody>
                    <a:bodyPr/>
                    <a:lstStyle/>
                    <a:p>
                      <a:pP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2023-02-05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728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49.0%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r>
              <a:tr h="332740">
                <a:tc>
                  <a:txBody>
                    <a:bodyPr/>
                    <a:lstStyle/>
                    <a:p>
                      <a:pP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2023-04-05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950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64.8%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r>
              <a:tr h="332740">
                <a:tc>
                  <a:txBody>
                    <a:bodyPr/>
                    <a:lstStyle/>
                    <a:p>
                      <a:pP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2023-04-07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930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52.5%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r>
              <a:tr h="332740">
                <a:tc>
                  <a:txBody>
                    <a:bodyPr/>
                    <a:lstStyle/>
                    <a:p>
                      <a:pP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2023-07-13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701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50.9%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r>
            </a:tbl>
          </a:graphicData>
        </a:graphic>
      </p:graphicFrame>
      <p:graphicFrame>
        <p:nvGraphicFramePr>
          <p:cNvPr id="4" name="Table 1"/>
          <p:cNvGraphicFramePr>
            <a:graphicFrameLocks noGrp="1"/>
          </p:cNvGraphicFramePr>
          <p:nvPr>
            <p:extLst>
              <p:ext uri="{D42A27DB-BD31-4B8C-83A1-F6EECF244321}">
                <p14:modId xmlns:p14="http://schemas.microsoft.com/office/powerpoint/2010/main" val="1579011935"/>
              </p:ext>
            </p:extLst>
          </p:nvPr>
        </p:nvGraphicFramePr>
        <p:xfrm>
          <a:off x="6311900" y="1526542"/>
          <a:ext cx="5067300" cy="2994660"/>
        </p:xfrm>
        <a:graphic>
          <a:graphicData uri="http://schemas.openxmlformats.org/drawingml/2006/table">
            <a:tbl>
              <a:tblPr/>
              <a:tblGrid>
                <a:gridCol w="1621536"/>
                <a:gridCol w="912114"/>
                <a:gridCol w="1266825"/>
                <a:gridCol w="1266825"/>
              </a:tblGrid>
              <a:tr h="332740">
                <a:tc>
                  <a:txBody>
                    <a:bodyPr/>
                    <a:lstStyle/>
                    <a:p>
                      <a:pPr indent="0" marL="0">
                        <a:lnSpc>
                          <a:spcPts val="1680"/>
                        </a:lnSpc>
                        <a:buNone/>
                      </a:pPr>
                      <a:r>
                        <a:rPr lang="en-US" sz="1200" b="1" dirty="0">
                          <a:solidFill>
                            <a:srgbClr val="14171C"/>
                          </a:solidFill>
                          <a:latin typeface="IBM Plex Sans" pitchFamily="34" charset="0"/>
                          <a:ea typeface="IBM Plex Sans" pitchFamily="34" charset="-122"/>
                          <a:cs typeface="IBM Plex Sans" pitchFamily="34" charset="-120"/>
                        </a:rPr>
                        <a:t>Date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B9BCBE"/>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B9BCBE"/>
                      </a:solidFill>
                      <a:prstDash val="solid"/>
                      <a:round/>
                      <a:headEnd type="none" w="med" len="med"/>
                      <a:tailEnd type="none" w="med" len="med"/>
                    </a:lnB>
                    <a:solidFill>
                      <a:srgbClr val="E8EBEE"/>
                    </a:solidFill>
                  </a:tcPr>
                </a:tc>
                <a:tc>
                  <a:txBody>
                    <a:bodyPr/>
                    <a:lstStyle/>
                    <a:p>
                      <a:pPr algn="r" indent="0" marL="0">
                        <a:lnSpc>
                          <a:spcPts val="1680"/>
                        </a:lnSpc>
                        <a:buNone/>
                      </a:pPr>
                      <a:r>
                        <a:rPr lang="en-US" sz="1200" b="1" dirty="0">
                          <a:solidFill>
                            <a:srgbClr val="14171C"/>
                          </a:solidFill>
                          <a:latin typeface="IBM Plex Sans" pitchFamily="34" charset="0"/>
                          <a:ea typeface="IBM Plex Sans" pitchFamily="34" charset="-122"/>
                          <a:cs typeface="IBM Plex Sans" pitchFamily="34" charset="-120"/>
                        </a:rPr>
                        <a:t>Divisions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CBE"/>
                      </a:solidFill>
                      <a:prstDash val="solid"/>
                      <a:round/>
                      <a:headEnd type="none" w="med" len="med"/>
                      <a:tailEnd type="none" w="med" len="med"/>
                    </a:lnL>
                    <a:lnR w="12700" cap="flat" cmpd="sng" algn="ctr">
                      <a:solidFill>
                        <a:srgbClr val="B9BCBE"/>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B9BCBE"/>
                      </a:solidFill>
                      <a:prstDash val="solid"/>
                      <a:round/>
                      <a:headEnd type="none" w="med" len="med"/>
                      <a:tailEnd type="none" w="med" len="med"/>
                    </a:lnB>
                    <a:solidFill>
                      <a:srgbClr val="E8EBEE"/>
                    </a:solidFill>
                  </a:tcPr>
                </a:tc>
                <a:tc>
                  <a:txBody>
                    <a:bodyPr/>
                    <a:lstStyle/>
                    <a:p>
                      <a:pPr algn="r" indent="0" marL="0">
                        <a:lnSpc>
                          <a:spcPts val="1680"/>
                        </a:lnSpc>
                        <a:buNone/>
                      </a:pPr>
                      <a:r>
                        <a:rPr lang="en-US" sz="1200" b="1" dirty="0">
                          <a:solidFill>
                            <a:srgbClr val="14171C"/>
                          </a:solidFill>
                          <a:latin typeface="IBM Plex Sans" pitchFamily="34" charset="0"/>
                          <a:ea typeface="IBM Plex Sans" pitchFamily="34" charset="-122"/>
                          <a:cs typeface="IBM Plex Sans" pitchFamily="34" charset="-120"/>
                        </a:rPr>
                        <a:t>Citywide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CBE"/>
                      </a:solidFill>
                      <a:prstDash val="solid"/>
                      <a:round/>
                      <a:headEnd type="none" w="med" len="med"/>
                      <a:tailEnd type="none" w="med" len="med"/>
                    </a:lnL>
                    <a:lnR w="12700" cap="flat" cmpd="sng" algn="ctr">
                      <a:solidFill>
                        <a:srgbClr val="B9BCBE"/>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B9BCBE"/>
                      </a:solidFill>
                      <a:prstDash val="solid"/>
                      <a:round/>
                      <a:headEnd type="none" w="med" len="med"/>
                      <a:tailEnd type="none" w="med" len="med"/>
                    </a:lnB>
                    <a:solidFill>
                      <a:srgbClr val="E8EBEE"/>
                    </a:solidFill>
                  </a:tcPr>
                </a:tc>
                <a:tc>
                  <a:txBody>
                    <a:bodyPr/>
                    <a:lstStyle/>
                    <a:p>
                      <a:pPr algn="r" indent="0" marL="0">
                        <a:lnSpc>
                          <a:spcPts val="1680"/>
                        </a:lnSpc>
                        <a:buNone/>
                      </a:pPr>
                      <a:r>
                        <a:rPr lang="en-US" sz="1200" b="1" dirty="0">
                          <a:solidFill>
                            <a:srgbClr val="14171C"/>
                          </a:solidFill>
                          <a:latin typeface="IBM Plex Sans" pitchFamily="34" charset="0"/>
                          <a:ea typeface="IBM Plex Sans" pitchFamily="34" charset="-122"/>
                          <a:cs typeface="IBM Plex Sans" pitchFamily="34" charset="-120"/>
                        </a:rPr>
                        <a:t>Non-medical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CBE"/>
                      </a:solidFill>
                      <a:prstDash val="solid"/>
                      <a:round/>
                      <a:headEnd type="none" w="med" len="med"/>
                      <a:tailEnd type="none" w="med" len="med"/>
                    </a:lnL>
                    <a:lnR w="12700" cap="flat" cmpd="sng" algn="ctr">
                      <a:solidFill>
                        <a:srgbClr val="B9BCBE"/>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B9BCBE"/>
                      </a:solidFill>
                      <a:prstDash val="solid"/>
                      <a:round/>
                      <a:headEnd type="none" w="med" len="med"/>
                      <a:tailEnd type="none" w="med" len="med"/>
                    </a:lnB>
                    <a:solidFill>
                      <a:srgbClr val="E8EBEE"/>
                    </a:solidFill>
                  </a:tcPr>
                </a:tc>
              </a:tr>
              <a:tr h="332740">
                <a:tc>
                  <a:txBody>
                    <a:bodyPr/>
                    <a:lstStyle/>
                    <a:p>
                      <a:pP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2026-03-17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B9BCBE"/>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B9BCBE"/>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513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B9BCBE"/>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47.3%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B9BCBE"/>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r>
              <a:tr h="332740">
                <a:tc>
                  <a:txBody>
                    <a:bodyPr/>
                    <a:lstStyle/>
                    <a:p>
                      <a:pP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2021-12-12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499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52.7%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r>
              <a:tr h="332740">
                <a:tc>
                  <a:txBody>
                    <a:bodyPr/>
                    <a:lstStyle/>
                    <a:p>
                      <a:pP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2023-04-08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639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41.0%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r>
              <a:tr h="332740">
                <a:tc>
                  <a:txBody>
                    <a:bodyPr/>
                    <a:lstStyle/>
                    <a:p>
                      <a:pP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2023-06-01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524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26.2%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r>
              <a:tr h="332740">
                <a:tc>
                  <a:txBody>
                    <a:bodyPr/>
                    <a:lstStyle/>
                    <a:p>
                      <a:pP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2020-06-11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324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69.8%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r>
              <a:tr h="332740">
                <a:tc>
                  <a:txBody>
                    <a:bodyPr/>
                    <a:lstStyle/>
                    <a:p>
                      <a:pP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2022-06-16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593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42.7%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r>
              <a:tr h="332740">
                <a:tc>
                  <a:txBody>
                    <a:bodyPr/>
                    <a:lstStyle/>
                    <a:p>
                      <a:pP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2024-08-10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600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45.5%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r>
              <a:tr h="332740">
                <a:tc>
                  <a:txBody>
                    <a:bodyPr/>
                    <a:lstStyle/>
                    <a:p>
                      <a:pP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2025-07-13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550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c>
                  <a:txBody>
                    <a:bodyPr/>
                    <a:lstStyle/>
                    <a:p>
                      <a:pPr algn="r"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35.9%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5"/>
                      </a:solidFill>
                      <a:prstDash val="solid"/>
                      <a:round/>
                      <a:headEnd type="none" w="med" len="med"/>
                      <a:tailEnd type="none" w="med" len="med"/>
                    </a:lnL>
                    <a:lnR w="12700" cap="flat" cmpd="sng" algn="ctr">
                      <a:solidFill>
                        <a:srgbClr val="C4C4C5"/>
                      </a:solidFill>
                      <a:prstDash val="solid"/>
                      <a:round/>
                      <a:headEnd type="none" w="med" len="med"/>
                      <a:tailEnd type="none" w="med" len="med"/>
                    </a:lnR>
                    <a:lnT w="12700" cap="flat" cmpd="sng" algn="ctr">
                      <a:solidFill>
                        <a:srgbClr val="C4C4C5"/>
                      </a:solidFill>
                      <a:prstDash val="solid"/>
                      <a:round/>
                      <a:headEnd type="none" w="med" len="med"/>
                      <a:tailEnd type="none" w="med" len="med"/>
                    </a:lnT>
                    <a:lnB w="12700" cap="flat" cmpd="sng" algn="ctr">
                      <a:solidFill>
                        <a:srgbClr val="C4C4C5"/>
                      </a:solidFill>
                      <a:prstDash val="solid"/>
                      <a:round/>
                      <a:headEnd type="none" w="med" len="med"/>
                      <a:tailEnd type="none" w="med" len="med"/>
                    </a:lnB>
                  </a:tcPr>
                </a:tc>
              </a:tr>
            </a:tbl>
          </a:graphicData>
        </a:graphic>
      </p:graphicFrame>
      <p:sp>
        <p:nvSpPr>
          <p:cNvPr id="5" name="Text 1"/>
          <p:cNvSpPr/>
          <p:nvPr/>
        </p:nvSpPr>
        <p:spPr>
          <a:xfrm>
            <a:off x="812800" y="4775200"/>
            <a:ext cx="915670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4D57"/>
                </a:solidFill>
                <a:latin typeface="IBM Plex Sans" pitchFamily="34" charset="0"/>
                <a:ea typeface="IBM Plex Sans" pitchFamily="34" charset="-122"/>
                <a:cs typeface="IBM Plex Sans" pitchFamily="34" charset="-120"/>
              </a:rPr>
              <a:t>Citywide = interventions that day; non-medical = share of SANS FEU calls (21% overall). Only the April 2023 ice storm is confirmed against a source; the other dates match weather patterns but are unverified.</a:t>
            </a:r>
            <a:endParaRPr lang="en-US" sz="1200" dirty="0"/>
          </a:p>
        </p:txBody>
      </p:sp>
      <p:sp>
        <p:nvSpPr>
          <p:cNvPr id="6" name="Text 2"/>
          <p:cNvSpPr/>
          <p:nvPr/>
        </p:nvSpPr>
        <p:spPr>
          <a:xfrm>
            <a:off x="812800" y="6238242"/>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A73"/>
                </a:solidFill>
                <a:latin typeface="IBM Plex Sans" pitchFamily="34" charset="0"/>
                <a:ea typeface="IBM Plex Sans" pitchFamily="34" charset="-122"/>
                <a:cs typeface="IBM Plex Sans" pitchFamily="34" charset="-120"/>
              </a:rPr>
              <a:t>Team 4, SIM interventions EDA</a:t>
            </a:r>
            <a:endParaRPr lang="en-US" sz="1200" dirty="0"/>
          </a:p>
        </p:txBody>
      </p:sp>
      <p:sp>
        <p:nvSpPr>
          <p:cNvPr id="7" name="Text 3"/>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A73"/>
                </a:solidFill>
                <a:latin typeface="IBM Plex Sans" pitchFamily="34" charset="0"/>
                <a:ea typeface="IBM Plex Sans" pitchFamily="34" charset="-122"/>
                <a:cs typeface="IBM Plex Sans" pitchFamily="34" charset="-120"/>
              </a:rPr>
              <a:t>B2</a:t>
            </a:r>
            <a:endParaRPr lang="en-US" sz="1200" dirty="0"/>
          </a:p>
        </p:txBody>
      </p:sp>
    </p:spTree>
  </p:cSld>
  <p:clrMapOvr>
    <a:masterClrMapping/>
  </p:clrMapOvr>
</p:sld>
</file>

<file path=ppt/theme/theme1.xml><?xml version="1.0" encoding="utf-8"?>
<a:theme xmlns:a="http://schemas.openxmlformats.org/drawingml/2006/main" name="v1_SIM EDA Presentation">
  <a:themeElements>
    <a:clrScheme name="v1_SIM EDA Presentation">
      <a:dk1>
        <a:srgbClr val="474D57"/>
      </a:dk1>
      <a:lt1>
        <a:srgbClr val="F5F6F7"/>
      </a:lt1>
      <a:dk2>
        <a:srgbClr val="73777F"/>
      </a:dk2>
      <a:lt2>
        <a:srgbClr val="E4E5E7"/>
      </a:lt2>
      <a:accent1>
        <a:srgbClr val="B3261E"/>
      </a:accent1>
      <a:accent2>
        <a:srgbClr val="14171C"/>
      </a:accent2>
      <a:accent3>
        <a:srgbClr val="646A73"/>
      </a:accent3>
      <a:accent4>
        <a:srgbClr val="9AA0A6"/>
      </a:accent4>
      <a:accent5>
        <a:srgbClr val="8D9197"/>
      </a:accent5>
      <a:accent6>
        <a:srgbClr val="A7AAAF"/>
      </a:accent6>
      <a:hlink>
        <a:srgbClr val="0563C1"/>
      </a:hlink>
      <a:folHlink>
        <a:srgbClr val="954F72"/>
      </a:folHlink>
    </a:clrScheme>
    <a:fontScheme name="v1_SIM EDA Presentation">
      <a:majorFont>
        <a:latin typeface="IBM Plex Sans Condense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v1_SIM EDA Presentation</dc:title>
  <dc:subject/>
  <dc:creator/>
  <cp:lastModifiedBy/>
  <cp:revision>1</cp:revision>
  <dcterms:created xsi:type="dcterms:W3CDTF">2026-10-10T22:35:31Z</dcterms:created>
  <dcterms:modified xsi:type="dcterms:W3CDTF">2026-10-10T22:35:31Z</dcterms:modified>
</cp:coreProperties>
</file>